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3006f6cd2c4a08" /><Relationship Type="http://schemas.openxmlformats.org/officeDocument/2006/relationships/extended-properties" Target="/docProps/app.xml" Id="R8c08b90b8dbf4b59" /><Relationship Type="http://schemas.openxmlformats.org/officeDocument/2006/relationships/officeDocument" Target="/ppt/presentation.xml" Id="R164b5f985b274c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28efb879624dd9"/>
  </p:sldMasterIdLst>
  <p:notesMasterIdLst>
    <p:notesMasterId xmlns:r="http://schemas.openxmlformats.org/officeDocument/2006/relationships" r:id="Rc7dc92396d604017"/>
  </p:notesMasterIdLst>
  <p:sldIdLst>
    <p:sldId xmlns:r="http://schemas.openxmlformats.org/officeDocument/2006/relationships" id="256" r:id="R6ebac79f41c346d9"/>
    <p:sldId xmlns:r="http://schemas.openxmlformats.org/officeDocument/2006/relationships" id="257" r:id="R2035c15faa8d4339"/>
    <p:sldId xmlns:r="http://schemas.openxmlformats.org/officeDocument/2006/relationships" id="258" r:id="R6be8340ed7d54c41"/>
    <p:sldId xmlns:r="http://schemas.openxmlformats.org/officeDocument/2006/relationships" id="259" r:id="Rf8247b5554e64cda"/>
    <p:sldId xmlns:r="http://schemas.openxmlformats.org/officeDocument/2006/relationships" id="260" r:id="R3e5f6642bfdf4e3e"/>
    <p:sldId xmlns:r="http://schemas.openxmlformats.org/officeDocument/2006/relationships" id="261" r:id="Rcf39aa0a61bc4f1a"/>
    <p:sldId xmlns:r="http://schemas.openxmlformats.org/officeDocument/2006/relationships" id="262" r:id="R8b8e14a590bc4ae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d4b046d3cf40b9" /><Relationship Type="http://schemas.openxmlformats.org/officeDocument/2006/relationships/slideMaster" Target="/ppt/slideMasters/slideMaster1.xml" Id="R5c28efb879624dd9" /><Relationship Type="http://schemas.openxmlformats.org/officeDocument/2006/relationships/notesMaster" Target="/ppt/notesMasters/notesMaster1.xml" Id="Rc7dc92396d604017" /><Relationship Type="http://schemas.openxmlformats.org/officeDocument/2006/relationships/presProps" Target="/ppt/presProps.xml" Id="R3aa6c3a5b3da4dc2" /><Relationship Type="http://schemas.openxmlformats.org/officeDocument/2006/relationships/tableStyles" Target="/ppt/tableStyles.xml" Id="R0db20ca653c6402f" /><Relationship Type="http://schemas.openxmlformats.org/officeDocument/2006/relationships/slide" Target="/ppt/slides/slide1.xml" Id="R6ebac79f41c346d9" /><Relationship Type="http://schemas.openxmlformats.org/officeDocument/2006/relationships/slide" Target="/ppt/slides/slide2.xml" Id="R2035c15faa8d4339" /><Relationship Type="http://schemas.openxmlformats.org/officeDocument/2006/relationships/slide" Target="/ppt/slides/slide3.xml" Id="R6be8340ed7d54c41" /><Relationship Type="http://schemas.openxmlformats.org/officeDocument/2006/relationships/slide" Target="/ppt/slides/slide4.xml" Id="Rf8247b5554e64cda" /><Relationship Type="http://schemas.openxmlformats.org/officeDocument/2006/relationships/slide" Target="/ppt/slides/slide5.xml" Id="R3e5f6642bfdf4e3e" /><Relationship Type="http://schemas.openxmlformats.org/officeDocument/2006/relationships/slide" Target="/ppt/slides/slide6.xml" Id="Rcf39aa0a61bc4f1a" /><Relationship Type="http://schemas.openxmlformats.org/officeDocument/2006/relationships/slide" Target="/ppt/slides/slide7.xml" Id="R8b8e14a590bc4a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77154b712f45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4956171ddc4bf9" /><Relationship Type="http://schemas.openxmlformats.org/officeDocument/2006/relationships/notesMaster" Target="/ppt/notesMasters/notesMaster1.xml" Id="Re10ef9d70ee74e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237733d379438c" /><Relationship Type="http://schemas.openxmlformats.org/officeDocument/2006/relationships/notesMaster" Target="/ppt/notesMasters/notesMaster1.xml" Id="R328beab7d6b249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ad4d68a6ae64401" /><Relationship Type="http://schemas.openxmlformats.org/officeDocument/2006/relationships/notesMaster" Target="/ppt/notesMasters/notesMaster1.xml" Id="Rfcadbc4556684d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ee3332f26f4aa1" /><Relationship Type="http://schemas.openxmlformats.org/officeDocument/2006/relationships/notesMaster" Target="/ppt/notesMasters/notesMaster1.xml" Id="Rf19dec53a9d240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0cba8daa9e3448f" /><Relationship Type="http://schemas.openxmlformats.org/officeDocument/2006/relationships/notesMaster" Target="/ppt/notesMasters/notesMaster1.xml" Id="R5a16104ff62e4ae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086af01b634b3f" /><Relationship Type="http://schemas.openxmlformats.org/officeDocument/2006/relationships/notesMaster" Target="/ppt/notesMasters/notesMaster1.xml" Id="R199328faaacb454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f7ced4087f640db" /><Relationship Type="http://schemas.openxmlformats.org/officeDocument/2006/relationships/notesMaster" Target="/ppt/notesMasters/notesMaster1.xml" Id="Rb77d6abfd11e48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订酒店时，我们同时在意位置、评分和新旧程度，可是价格一直变化。预算不够时，真正困难的是决定什么可以退一步。StayPilot 面向普通旅行者，让用户先讲清取舍，再由智能体持续比较和预订。本次展示采用三家仿真平台，所有订单和资金都是测试数据。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来源与说明：用户确认的实现计划；本项目仿真披露。讲述约 20 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把预算、目的地、入住日期和最晚完成时间交给智能体。卫生和隔音可以是硬底线，早餐单一却可能可以接受。用户还会明确降级顺序，例如先放宽通勤方式，再放宽开业年份，最后考虑能解释的低评分。智能体只在这份确认过的授权内做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来源与说明：shared/types.ts，server/seed.ts 的 defaultMandate，server/engine.ts 的个人权重与降级规则。讲述约 25 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智能体从第一个平台筛选酒店，锁定意向，再到另外两个平台查找同一家酒店和其他合适的选择。它通过 Playwright 实际打开页面、读取详情与评论，进入结算页提交订单。三个平台共享酒店身份，但价格、评分和取消条件不同。仿真时钟可以暂停、单步或加速，未来事件不提供给智能体。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来源与说明：server/browser-agent.ts，server/seed.ts，src/App.tsx。该流程图由原生可编辑形状与连接线构成。讲述约 25 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个便宜的不可取消报价，需要用户明确授权才能买。限时可取消房可以继续优化，但新方案不能降低住宿档位或提高个人差评风险。换订至少节省五十元且达到旧订单的百分之五。系统先确认新订单，再退旧订单，同时检查钱包能否承担两笔占款。退款实际到账前，这笔资金仍然不能重复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来源与说明：server/engine.ts 的服务端交易检查与换订守卫。金额和百分比是授权规则默认值，并非节省测量结果。讲述约 30 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评分只是入口。智能体查看具体评论，把隔音、卫生、装修气味等问题分别统计，并结合个人重要程度判断。比如早餐问题在读取样本里出现两次，用户并不在意，就不应否决酒店。每个结论都连回原评论。候选排序、预算判断和下单结果同时保留，用户能看见依据，而不是只收到一个推荐名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来源与说明：server/seed.ts 的 h01 种子评论：8 条中的 2 条早餐问题，平台 A 评论日期 2026-09-27、2026-09-25。个人早餐默认权重为 0。server/engine.ts 风险算法是问题样本比例乘用户权重。此比例只描述已读测试样本，不代表真实住客总体。讲述约 25 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本地浏览测试实际完成了跨平台首订、换订与退款。系统先在平台 A 以四百五十五元预订湖畔时光，再在价格变化后以三百一十五元预订平台 B 的云栖湖滨，旧单退款随后到账。另一场景把结算含税总价提高到一千五百五十五元，超过一千元预算，服务端实际阻止交易，钱包没有扣款。九项本地浏览验证通过。这些金额来自可回放的测试市场，不是对真实市场节省的宣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来源与说明：本地运行结果：docs/browser-verification.json，tests/e2e.ts，docs/screenshots/budget-blocked.png。9 项浏览验证包括首订、换订占款、退款到账、审计哈希链、三平台页面、税费阻断、撤销阻断、不可取消房授权和手机无横向溢出。截图中的客房氛围图来源：Kin Shing Lai，https://unsplash.com/photos/a-bed-in-a-hotel-room-GOzvLXx4E-E，使用 Unsplash License，https://unsplash.com/license。照片不代表仿真酒店实拍。测试系统未连接真实库存或支付网络。讲述约 30 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前首版覆盖单目的地、固定日期和人民币，包含三家平台、二十家测试酒店、订单退款账本与完整证据记录。核心交易规则在后端执行，模型可以辅助理解偏好，但不能改动预算或权限。接下来需要在商户允许的接口上连接真实报价与库存，接入支付退款，并用真实数据评估表现。我们现在展示的是可运行、可核验的仿真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来源与说明：用户确认的首版范围，shared/types.ts，server/model.ts，server/engine.ts。所有真实商户与支付接入均为后续计划。讲述约 25 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b494c835d74d9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7e057c77f54cd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7704b598824d2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7b799dc8654b1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572c726f124a8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1f61d07c8b46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1309B21-9026-4C30-AA09-F693BC2C3D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9C276E3-B536-4636-B8CD-7E4B0D90D07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5A2B723-CB3F-4A2D-B70E-BF81B69B82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19C2AC7-1F7C-44BC-8514-99EE7A2759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F5DB025-45C8-4B9A-B791-59F1240EB4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494BD90-D72E-4100-B54A-57DCE95CAC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4F72720-5EFA-45DD-B51E-B828718DEB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42C58BD-2301-4DB0-9DE4-75161FED25E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34F7A13-0964-4185-BDA1-ADEDBB5D8A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38D9404-024D-451F-AE9B-3FA79098C5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62ba4a44f94291" /><Relationship Type="http://schemas.openxmlformats.org/officeDocument/2006/relationships/slideLayout" Target="/ppt/slideLayouts/slideLayout1.xml" Id="Rde80641fed5041bd" /><Relationship Type="http://schemas.openxmlformats.org/officeDocument/2006/relationships/slideLayout" Target="/ppt/slideLayouts/slideLayout2.xml" Id="R96138e4d37c548ef" /><Relationship Type="http://schemas.openxmlformats.org/officeDocument/2006/relationships/slideLayout" Target="/ppt/slideLayouts/slideLayout3.xml" Id="R4f84512546c946d1" /><Relationship Type="http://schemas.openxmlformats.org/officeDocument/2006/relationships/slideLayout" Target="/ppt/slideLayouts/slideLayout4.xml" Id="Rd7497943eb604b5c" /><Relationship Type="http://schemas.openxmlformats.org/officeDocument/2006/relationships/slideLayout" Target="/ppt/slideLayouts/slideLayout5.xml" Id="R9b40e0fd2c8d4aaf" /><Relationship Type="http://schemas.openxmlformats.org/officeDocument/2006/relationships/slideLayout" Target="/ppt/slideLayouts/slideLayout6.xml" Id="R462d62336eb842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80641fed5041bd"/>
    <p:sldLayoutId xmlns:r="http://schemas.openxmlformats.org/officeDocument/2006/relationships" id="2147483650" r:id="R96138e4d37c548ef"/>
    <p:sldLayoutId xmlns:r="http://schemas.openxmlformats.org/officeDocument/2006/relationships" id="2147483651" r:id="R4f84512546c946d1"/>
    <p:sldLayoutId xmlns:r="http://schemas.openxmlformats.org/officeDocument/2006/relationships" id="2147483652" r:id="Rd7497943eb604b5c"/>
    <p:sldLayoutId xmlns:r="http://schemas.openxmlformats.org/officeDocument/2006/relationships" id="2147483653" r:id="R9b40e0fd2c8d4aaf"/>
    <p:sldLayoutId xmlns:r="http://schemas.openxmlformats.org/officeDocument/2006/relationships" id="2147483654" r:id="R462d62336eb842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fd2ba19de5446d" /><Relationship Type="http://schemas.openxmlformats.org/officeDocument/2006/relationships/notesSlide" Target="/ppt/notesSlides/notesSlide1.xml" Id="R71f7cf809dc442d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641a92856c41d2" /><Relationship Type="http://schemas.openxmlformats.org/officeDocument/2006/relationships/notesSlide" Target="/ppt/notesSlides/notesSlide2.xml" Id="R62fa0c239a2942d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acb9254bde42b9" /><Relationship Type="http://schemas.openxmlformats.org/officeDocument/2006/relationships/notesSlide" Target="/ppt/notesSlides/notesSlide3.xml" Id="R1a95b7b43d6449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ac5d8b65904bc5" /><Relationship Type="http://schemas.openxmlformats.org/officeDocument/2006/relationships/notesSlide" Target="/ppt/notesSlides/notesSlide4.xml" Id="Ra28381dc339f4a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248cb9a404400f" /><Relationship Type="http://schemas.openxmlformats.org/officeDocument/2006/relationships/notesSlide" Target="/ppt/notesSlides/notesSlide5.xml" Id="Rb5999c96f82846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341e4f73cd4748" /><Relationship Type="http://schemas.openxmlformats.org/officeDocument/2006/relationships/image" Target="/ppt/media/image.png" Id="R15463fd9ec6e4c17" /><Relationship Type="http://schemas.openxmlformats.org/officeDocument/2006/relationships/notesSlide" Target="/ppt/notesSlides/notesSlide6.xml" Id="R48be85382a17473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641771bf394443" /><Relationship Type="http://schemas.openxmlformats.org/officeDocument/2006/relationships/notesSlide" Target="/ppt/notesSlides/notesSlide7.xml" Id="Rd43eb7b7f02d42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tayPilot">
            <a:extLst xmlns:a="http://schemas.openxmlformats.org/drawingml/2006/main">
              <a:ext uri="{FF2B5EF4-FFF2-40B4-BE49-F238E27FC236}">
                <a16:creationId xmlns:a16="http://schemas.microsoft.com/office/drawing/2014/main" id="{83D8517F-B80E-421D-BD95-74427217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550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5550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550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rPr>
              <a:t>StayPilot</a:t>
            </a:r>
          </a:p>
        </p:txBody>
      </p:sp>
      <p:sp>
        <p:nvSpPr>
          <p:cNvPr id="2" name="酒店选择需要持续判断">
            <a:extLst xmlns:a="http://schemas.openxmlformats.org/drawingml/2006/main">
              <a:ext uri="{FF2B5EF4-FFF2-40B4-BE49-F238E27FC236}">
                <a16:creationId xmlns:a16="http://schemas.microsoft.com/office/drawing/2014/main" id="{8423CBE6-E837-4FCD-B5C1-3B5A79D2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rPr>
              <a:t>酒店选择需要持续判断</a:t>
            </a:r>
          </a:p>
        </p:txBody>
      </p:sp>
      <p:sp>
        <p:nvSpPr>
          <p:cNvPr id="3" name="按照你的取舍，持续寻找合适的酒店">
            <a:extLst xmlns:a="http://schemas.openxmlformats.org/drawingml/2006/main">
              <a:ext uri="{FF2B5EF4-FFF2-40B4-BE49-F238E27FC236}">
                <a16:creationId xmlns:a16="http://schemas.microsoft.com/office/drawing/2014/main" id="{6E777B57-7A6B-46D9-85B3-1FA18C95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10477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0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rPr>
              <a:t>按照你的取舍，持续寻找合适的酒店</a:t>
            </a:r>
          </a:p>
        </p:txBody>
      </p:sp>
      <p:sp>
        <p:nvSpPr>
          <p:cNvPr id="4" name="价格变化、跨平台条款和不同的差评，让一次搜索很难完成">
            <a:extLst xmlns:a="http://schemas.openxmlformats.org/drawingml/2006/main">
              <a:ext uri="{FF2B5EF4-FFF2-40B4-BE49-F238E27FC236}">
                <a16:creationId xmlns:a16="http://schemas.microsoft.com/office/drawing/2014/main" id="{7C7B3751-89D8-4EB0-B886-59184BDE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rPr>
              <a:t>价格变化、跨平台条款和不同的差评，让一次搜索很难完成决策。</a:t>
            </a:r>
          </a:p>
        </p:txBody>
      </p:sp>
      <p:sp>
        <p:nvSpPr>
          <p:cNvPr id="5" name="三平台自主预订仿真">
            <a:extLst xmlns:a="http://schemas.openxmlformats.org/drawingml/2006/main">
              <a:ext uri="{FF2B5EF4-FFF2-40B4-BE49-F238E27FC236}">
                <a16:creationId xmlns:a16="http://schemas.microsoft.com/office/drawing/2014/main" id="{1318625E-7C59-451B-A27C-A85A5BB7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rPr>
              <a:t>三平台自主预订仿真</a:t>
            </a:r>
          </a:p>
        </p:txBody>
      </p:sp>
      <p:sp>
        <p:nvSpPr>
          <p:cNvPr id="6" name="酒店、评论、价格、订单与资金均为测试数据">
            <a:extLst xmlns:a="http://schemas.openxmlformats.org/drawingml/2006/main">
              <a:ext uri="{FF2B5EF4-FFF2-40B4-BE49-F238E27FC236}">
                <a16:creationId xmlns:a16="http://schemas.microsoft.com/office/drawing/2014/main" id="{1F900A90-4C9A-4B32-85C7-BAFD22C6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rPr>
              <a:t>酒店、评论、价格、订单与资金均为测试数据</a:t>
            </a:r>
          </a:p>
        </p:txBody>
      </p:sp>
    </p:spTree>
    <p:extLst>
      <p:ext uri="{BB962C8B-B14F-4D97-AF65-F5344CB8AC3E}">
        <p14:creationId xmlns:p14="http://schemas.microsoft.com/office/powerpoint/2010/main" val="3527310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每个人都有不同的住宿底线">
            <a:extLst xmlns:a="http://schemas.openxmlformats.org/drawingml/2006/main">
              <a:ext uri="{FF2B5EF4-FFF2-40B4-BE49-F238E27FC236}">
                <a16:creationId xmlns:a16="http://schemas.microsoft.com/office/drawing/2014/main" id="{965F3C05-D8FD-4E00-B9E1-4030DFF8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375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75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rPr>
              <a:t>每个人都有不同的住宿底线</a:t>
            </a:r>
          </a:p>
        </p:txBody>
      </p:sp>
      <p:sp>
        <p:nvSpPr>
          <p:cNvPr id="2" name="硬底线限制可选范围，降级顺序决定可以退到哪里">
            <a:extLst xmlns:a="http://schemas.openxmlformats.org/drawingml/2006/main">
              <a:ext uri="{FF2B5EF4-FFF2-40B4-BE49-F238E27FC236}">
                <a16:creationId xmlns:a16="http://schemas.microsoft.com/office/drawing/2014/main" id="{98B2D8AA-9F69-4957-A7C7-273658D3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15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rPr>
              <a:t>硬底线限制可选范围，降级顺序决定可以退到哪里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8D5E37-8140-4438-875B-88901D99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E2EF"/>
            </a:solidFill>
            <a:prstDash val="solid"/>
          </a:ln>
        </p:spPr>
      </p:sp>
      <p:sp>
        <p:nvSpPr>
          <p:cNvPr id="4" name="StayPilot · 仿真市场与测试资金">
            <a:extLst xmlns:a="http://schemas.openxmlformats.org/drawingml/2006/main">
              <a:ext uri="{FF2B5EF4-FFF2-40B4-BE49-F238E27FC236}">
                <a16:creationId xmlns:a16="http://schemas.microsoft.com/office/drawing/2014/main" id="{7836178C-6EC0-40D7-9817-6C912DB40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rPr>
              <a:t>StayPilot · 仿真市场与测试资金</a:t>
            </a:r>
          </a:p>
        </p:txBody>
      </p:sp>
      <p:sp>
        <p:nvSpPr>
          <p:cNvPr id="5" name="2">
            <a:extLst xmlns:a="http://schemas.openxmlformats.org/drawingml/2006/main">
              <a:ext uri="{FF2B5EF4-FFF2-40B4-BE49-F238E27FC236}">
                <a16:creationId xmlns:a16="http://schemas.microsoft.com/office/drawing/2014/main" id="{C147BE3F-F754-4D24-BBC2-89C8ED1B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2460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1A4F20-F06E-4143-99B6-9E88F419B4D3}"/>
              </a:ext>
            </a:extLst>
          </p:cNvPr>
          <p:cNvGraphicFramePr/>
          <p:nvPr/>
        </p:nvGraphicFramePr>
        <p:xfrm>
          <a:off xmlns:a="http://schemas.openxmlformats.org/drawingml/2006/main" x="609600" y="1981200"/>
          <a:ext xmlns:a="http://schemas.openxmlformats.org/drawingml/2006/main" cx="10972800" cy="27432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00250"/>
                <a:gridCol w="3714750"/>
                <a:gridCol w="5257800"/>
              </a:tblGrid>
              <a:tr h="6858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条件</a:t>
                      </a:r>
                    </a:p>
                  </a:txBody>
                  <a:tcPr marL="152400" marR="152400" marT="142875" marB="133350" anchor="ctr">
                    <a:solidFill>
                      <a:srgbClr val="1528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初始期待</a:t>
                      </a:r>
                    </a:p>
                  </a:txBody>
                  <a:tcPr marL="152400" marR="152400" marT="142875" marB="133350" anchor="ctr">
                    <a:solidFill>
                      <a:srgbClr val="1528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事先允许的调整</a:t>
                      </a:r>
                    </a:p>
                  </a:txBody>
                  <a:tcPr marL="152400" marR="152400" marT="142875" marB="133350" anchor="ctr">
                    <a:solidFill>
                      <a:srgbClr val="15284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8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通勤</a:t>
                      </a:r>
                    </a:p>
                  </a:txBody>
                  <a:tcPr marL="152400" marR="152400" marT="142875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8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步行到目的地</a:t>
                      </a:r>
                    </a:p>
                  </a:txBody>
                  <a:tcPr marL="152400" marR="152400" marT="142875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8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地铁直达且不超时</a:t>
                      </a:r>
                    </a:p>
                  </a:txBody>
                  <a:tcPr marL="152400" marR="152400" marT="142875" marB="13335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8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开业</a:t>
                      </a:r>
                    </a:p>
                  </a:txBody>
                  <a:tcPr marL="152400" marR="152400" marT="142875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8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近年开业</a:t>
                      </a:r>
                    </a:p>
                  </a:txBody>
                  <a:tcPr marL="152400" marR="152400" marT="142875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8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放宽年份，保留其他底线</a:t>
                      </a:r>
                    </a:p>
                  </a:txBody>
                  <a:tcPr marL="152400" marR="152400" marT="142875" marB="13335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8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评分</a:t>
                      </a:r>
                    </a:p>
                  </a:txBody>
                  <a:tcPr marL="152400" marR="152400" marT="142875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8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优先高评分</a:t>
                      </a:r>
                    </a:p>
                  </a:txBody>
                  <a:tcPr marL="152400" marR="152400" marT="142875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8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低分原因可接受才保留</a:t>
                      </a:r>
                    </a:p>
                  </a:txBody>
                  <a:tcPr marL="152400" marR="152400" marT="142875" marB="1333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同一条评论，不同的人会作出不同选择">
            <a:extLst xmlns:a="http://schemas.openxmlformats.org/drawingml/2006/main">
              <a:ext uri="{FF2B5EF4-FFF2-40B4-BE49-F238E27FC236}">
                <a16:creationId xmlns:a16="http://schemas.microsoft.com/office/drawing/2014/main" id="{0AA33F89-4D3F-4469-823B-530F43FF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rPr>
              <a:t>同一条评论，不同的人会作出不同选择</a:t>
            </a:r>
          </a:p>
        </p:txBody>
      </p:sp>
      <p:sp>
        <p:nvSpPr>
          <p:cNvPr id="8" name="早餐单一可以接受。隔音差可以设置为不可妥协。">
            <a:extLst xmlns:a="http://schemas.openxmlformats.org/drawingml/2006/main">
              <a:ext uri="{FF2B5EF4-FFF2-40B4-BE49-F238E27FC236}">
                <a16:creationId xmlns:a16="http://schemas.microsoft.com/office/drawing/2014/main" id="{87D2ECCD-0B83-4AE7-AA70-D8C0E52D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11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rPr>
              <a:t>早餐单一可以接受。隔音差可以设置为不可妥协。</a:t>
            </a:r>
          </a:p>
        </p:txBody>
      </p:sp>
    </p:spTree>
    <p:extLst>
      <p:ext uri="{BB962C8B-B14F-4D97-AF65-F5344CB8AC3E}">
        <p14:creationId xmlns:p14="http://schemas.microsoft.com/office/powerpoint/2010/main" val="13672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DF96D8-BF50-4322-BB17-7860B6B9246D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772400" y="289560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5ADE"/>
            </a:solidFill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683AFE-111F-469A-8C94-1373056300AB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962400" y="289560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5ADE"/>
            </a:solidFill>
            <a:tailEnd type="triangle" w="sm" len="sm"/>
          </a:ln>
        </p:spPr>
      </p:cxnSp>
      <p:sp>
        <p:nvSpPr>
          <p:cNvPr id="20" name="三平台实际网页操作">
            <a:extLst xmlns:a="http://schemas.openxmlformats.org/drawingml/2006/main">
              <a:ext uri="{FF2B5EF4-FFF2-40B4-BE49-F238E27FC236}">
                <a16:creationId xmlns:a16="http://schemas.microsoft.com/office/drawing/2014/main" id="{0FA3FD0D-F546-4791-83DC-D726ACDD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375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75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rPr>
              <a:t>三平台实际网页操作</a:t>
            </a:r>
          </a:p>
        </p:txBody>
      </p:sp>
      <p:sp>
        <p:nvSpPr>
          <p:cNvPr id="2" name="Playwright 打开页面、读取评论，进入结算与">
            <a:extLst xmlns:a="http://schemas.openxmlformats.org/drawingml/2006/main">
              <a:ext uri="{FF2B5EF4-FFF2-40B4-BE49-F238E27FC236}">
                <a16:creationId xmlns:a16="http://schemas.microsoft.com/office/drawing/2014/main" id="{D44FC641-0F94-4278-B75D-BEF9ACA5D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15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rPr>
              <a:t>Playwright 打开页面、读取评论，进入结算与订单管理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A5294A-83D1-4157-8D0D-24344B0D5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E2EF"/>
            </a:solidFill>
            <a:prstDash val="solid"/>
          </a:ln>
        </p:spPr>
      </p:sp>
      <p:sp>
        <p:nvSpPr>
          <p:cNvPr id="4" name="StayPilot · 仿真市场与测试资金">
            <a:extLst xmlns:a="http://schemas.openxmlformats.org/drawingml/2006/main">
              <a:ext uri="{FF2B5EF4-FFF2-40B4-BE49-F238E27FC236}">
                <a16:creationId xmlns:a16="http://schemas.microsoft.com/office/drawing/2014/main" id="{CF218C49-5982-4793-B7E2-3B4952D3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rPr>
              <a:t>StayPilot · 仿真市场与测试资金</a:t>
            </a:r>
          </a:p>
        </p:txBody>
      </p:sp>
      <p:sp>
        <p:nvSpPr>
          <p:cNvPr id="5" name="3">
            <a:extLst xmlns:a="http://schemas.openxmlformats.org/drawingml/2006/main">
              <a:ext uri="{FF2B5EF4-FFF2-40B4-BE49-F238E27FC236}">
                <a16:creationId xmlns:a16="http://schemas.microsoft.com/office/drawing/2014/main" id="{5B57534A-EB6F-4A55-985E-60208BAB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2460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6" name="平台 A流程节点">
            <a:extLst xmlns:a="http://schemas.openxmlformats.org/drawingml/2006/main">
              <a:ext uri="{FF2B5EF4-FFF2-40B4-BE49-F238E27FC236}">
                <a16:creationId xmlns:a16="http://schemas.microsoft.com/office/drawing/2014/main" id="{6EC75EE5-76A1-4F98-96A6-FD812B4F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33528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11430">
            <a:solidFill>
              <a:srgbClr val="D9E2EF"/>
            </a:solidFill>
          </a:ln>
        </p:spPr>
      </p:sp>
      <p:sp>
        <p:nvSpPr>
          <p:cNvPr id="7" name="平台 A">
            <a:extLst xmlns:a="http://schemas.openxmlformats.org/drawingml/2006/main">
              <a:ext uri="{FF2B5EF4-FFF2-40B4-BE49-F238E27FC236}">
                <a16:creationId xmlns:a16="http://schemas.microsoft.com/office/drawing/2014/main" id="{803BB2D3-D2D8-40B5-AE9A-BE328551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1935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rPr>
              <a:t>平台 A</a:t>
            </a:r>
          </a:p>
        </p:txBody>
      </p:sp>
      <p:sp>
        <p:nvSpPr>
          <p:cNvPr id="8" name="初筛意向酒店">
            <a:extLst xmlns:a="http://schemas.openxmlformats.org/drawingml/2006/main">
              <a:ext uri="{FF2B5EF4-FFF2-40B4-BE49-F238E27FC236}">
                <a16:creationId xmlns:a16="http://schemas.microsoft.com/office/drawing/2014/main" id="{3AE99FFE-6BDC-41EC-A94C-F5D1E7E2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0375"/>
            <a:ext cx="2914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rPr>
              <a:t>初筛意向酒店</a:t>
            </a:r>
          </a:p>
        </p:txBody>
      </p:sp>
      <p:sp>
        <p:nvSpPr>
          <p:cNvPr id="9" name="平台 B流程节点">
            <a:extLst xmlns:a="http://schemas.openxmlformats.org/drawingml/2006/main">
              <a:ext uri="{FF2B5EF4-FFF2-40B4-BE49-F238E27FC236}">
                <a16:creationId xmlns:a16="http://schemas.microsoft.com/office/drawing/2014/main" id="{3B577C67-72E7-4E49-A9CD-3F34A0B5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00275"/>
            <a:ext cx="33528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11430">
            <a:solidFill>
              <a:srgbClr val="D9E2EF"/>
            </a:solidFill>
          </a:ln>
        </p:spPr>
      </p:sp>
      <p:sp>
        <p:nvSpPr>
          <p:cNvPr id="10" name="平台 B">
            <a:extLst xmlns:a="http://schemas.openxmlformats.org/drawingml/2006/main">
              <a:ext uri="{FF2B5EF4-FFF2-40B4-BE49-F238E27FC236}">
                <a16:creationId xmlns:a16="http://schemas.microsoft.com/office/drawing/2014/main" id="{62263E3C-1781-4311-ABB2-A44F4ED9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1935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rPr>
              <a:t>平台 B</a:t>
            </a:r>
          </a:p>
        </p:txBody>
      </p:sp>
      <p:sp>
        <p:nvSpPr>
          <p:cNvPr id="11" name="核对同店与竞品">
            <a:extLst xmlns:a="http://schemas.openxmlformats.org/drawingml/2006/main">
              <a:ext uri="{FF2B5EF4-FFF2-40B4-BE49-F238E27FC236}">
                <a16:creationId xmlns:a16="http://schemas.microsoft.com/office/drawing/2014/main" id="{F2874A16-34D1-4EEC-A53B-A30C6AA1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00375"/>
            <a:ext cx="2914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rPr>
              <a:t>核对同店与竞品</a:t>
            </a:r>
          </a:p>
        </p:txBody>
      </p:sp>
      <p:sp>
        <p:nvSpPr>
          <p:cNvPr id="12" name="平台 C流程节点">
            <a:extLst xmlns:a="http://schemas.openxmlformats.org/drawingml/2006/main">
              <a:ext uri="{FF2B5EF4-FFF2-40B4-BE49-F238E27FC236}">
                <a16:creationId xmlns:a16="http://schemas.microsoft.com/office/drawing/2014/main" id="{44B68787-189B-424D-BE8D-A0C6079A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00275"/>
            <a:ext cx="33528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11430">
            <a:solidFill>
              <a:srgbClr val="D9E2EF"/>
            </a:solidFill>
          </a:ln>
        </p:spPr>
      </p:sp>
      <p:sp>
        <p:nvSpPr>
          <p:cNvPr id="13" name="平台 C">
            <a:extLst xmlns:a="http://schemas.openxmlformats.org/drawingml/2006/main">
              <a:ext uri="{FF2B5EF4-FFF2-40B4-BE49-F238E27FC236}">
                <a16:creationId xmlns:a16="http://schemas.microsoft.com/office/drawing/2014/main" id="{CC9620C9-88EA-4F03-9FC0-00387DF3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1935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rPr>
              <a:t>平台 C</a:t>
            </a:r>
          </a:p>
        </p:txBody>
      </p:sp>
      <p:sp>
        <p:nvSpPr>
          <p:cNvPr id="14" name="核对价格与条款">
            <a:extLst xmlns:a="http://schemas.openxmlformats.org/drawingml/2006/main">
              <a:ext uri="{FF2B5EF4-FFF2-40B4-BE49-F238E27FC236}">
                <a16:creationId xmlns:a16="http://schemas.microsoft.com/office/drawing/2014/main" id="{8ABB2005-C21E-4AB4-9106-8B197ADB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00375"/>
            <a:ext cx="2914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rPr>
              <a:t>核对价格与条款</a:t>
            </a:r>
          </a:p>
        </p:txBody>
      </p:sp>
      <p:sp>
        <p:nvSpPr>
          <p:cNvPr id="17" name="共同目录：20 家测试酒店">
            <a:extLst xmlns:a="http://schemas.openxmlformats.org/drawingml/2006/main">
              <a:ext uri="{FF2B5EF4-FFF2-40B4-BE49-F238E27FC236}">
                <a16:creationId xmlns:a16="http://schemas.microsoft.com/office/drawing/2014/main" id="{89DE0D0D-9162-4F9A-A8B2-A08DA806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rPr>
              <a:t>共同目录：20 家测试酒店</a:t>
            </a:r>
          </a:p>
        </p:txBody>
      </p:sp>
      <p:sp>
        <p:nvSpPr>
          <p:cNvPr id="18" name="各平台拥有独立报价、评分尺度、库存和取消条款。">
            <a:extLst xmlns:a="http://schemas.openxmlformats.org/drawingml/2006/main">
              <a:ext uri="{FF2B5EF4-FFF2-40B4-BE49-F238E27FC236}">
                <a16:creationId xmlns:a16="http://schemas.microsoft.com/office/drawing/2014/main" id="{5BB37B7E-6176-4A1D-914B-DDBD3909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rPr>
              <a:t>各平台拥有独立报价、评分尺度、库存和取消条款。</a:t>
            </a:r>
          </a:p>
        </p:txBody>
      </p:sp>
      <p:sp>
        <p:nvSpPr>
          <p:cNvPr id="19" name="仿真时钟支持暂停、单步和加速。智能体只观察当前页面。">
            <a:extLst xmlns:a="http://schemas.openxmlformats.org/drawingml/2006/main">
              <a:ext uri="{FF2B5EF4-FFF2-40B4-BE49-F238E27FC236}">
                <a16:creationId xmlns:a16="http://schemas.microsoft.com/office/drawing/2014/main" id="{29EC3FDC-FF14-42A3-AFAA-4A31DB43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rPr>
              <a:t>仿真时钟支持暂停、单步和加速。智能体只观察当前页面。</a:t>
            </a:r>
          </a:p>
        </p:txBody>
      </p:sp>
    </p:spTree>
    <p:extLst>
      <p:ext uri="{BB962C8B-B14F-4D97-AF65-F5344CB8AC3E}">
        <p14:creationId xmlns:p14="http://schemas.microsoft.com/office/powerpoint/2010/main" val="6477863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钱包与授权共同决定能否交易">
            <a:extLst xmlns:a="http://schemas.openxmlformats.org/drawingml/2006/main">
              <a:ext uri="{FF2B5EF4-FFF2-40B4-BE49-F238E27FC236}">
                <a16:creationId xmlns:a16="http://schemas.microsoft.com/office/drawing/2014/main" id="{6C49C1FC-7C80-4165-A97A-2425BC44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375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75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rPr>
              <a:t>钱包与授权共同决定能否交易</a:t>
            </a:r>
          </a:p>
        </p:txBody>
      </p:sp>
      <p:sp>
        <p:nvSpPr>
          <p:cNvPr id="2" name="不可取消房单独授权，免费取消窗口内才允许继续换订">
            <a:extLst xmlns:a="http://schemas.openxmlformats.org/drawingml/2006/main">
              <a:ext uri="{FF2B5EF4-FFF2-40B4-BE49-F238E27FC236}">
                <a16:creationId xmlns:a16="http://schemas.microsoft.com/office/drawing/2014/main" id="{177B5B08-F942-4C2F-AC7C-DA54A91E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15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rPr>
              <a:t>不可取消房单独授权，免费取消窗口内才允许继续换订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AF45AE-7635-4220-8EDD-FDFD7DA8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E2EF"/>
            </a:solidFill>
            <a:prstDash val="solid"/>
          </a:ln>
        </p:spPr>
      </p:sp>
      <p:sp>
        <p:nvSpPr>
          <p:cNvPr id="4" name="StayPilot · 仿真市场与测试资金">
            <a:extLst xmlns:a="http://schemas.openxmlformats.org/drawingml/2006/main">
              <a:ext uri="{FF2B5EF4-FFF2-40B4-BE49-F238E27FC236}">
                <a16:creationId xmlns:a16="http://schemas.microsoft.com/office/drawing/2014/main" id="{BAFF5B4D-CDC1-43BB-AD37-5C19B2FD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rPr>
              <a:t>StayPilot · 仿真市场与测试资金</a:t>
            </a:r>
          </a:p>
        </p:txBody>
      </p:sp>
      <p:sp>
        <p:nvSpPr>
          <p:cNvPr id="5" name="4">
            <a:extLst xmlns:a="http://schemas.openxmlformats.org/drawingml/2006/main">
              <a:ext uri="{FF2B5EF4-FFF2-40B4-BE49-F238E27FC236}">
                <a16:creationId xmlns:a16="http://schemas.microsoft.com/office/drawing/2014/main" id="{83EE8FEA-416B-47D5-9B35-259FD0D8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2460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6" name="住宿预算">
            <a:extLst xmlns:a="http://schemas.openxmlformats.org/drawingml/2006/main">
              <a:ext uri="{FF2B5EF4-FFF2-40B4-BE49-F238E27FC236}">
                <a16:creationId xmlns:a16="http://schemas.microsoft.com/office/drawing/2014/main" id="{E0A879A7-F776-43F6-B999-A3E36F1F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rPr>
              <a:t>住宿预算</a:t>
            </a:r>
          </a:p>
        </p:txBody>
      </p:sp>
      <p:sp>
        <p:nvSpPr>
          <p:cNvPr id="7" name="含税价格与累计不可退费用">
            <a:extLst xmlns:a="http://schemas.openxmlformats.org/drawingml/2006/main">
              <a:ext uri="{FF2B5EF4-FFF2-40B4-BE49-F238E27FC236}">
                <a16:creationId xmlns:a16="http://schemas.microsoft.com/office/drawing/2014/main" id="{B26871D4-E498-4B85-AB09-B9652C9F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323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rPr>
              <a:t>含税价格与累计不可退费用</a:t>
            </a:r>
          </a:p>
        </p:txBody>
      </p:sp>
      <p:sp>
        <p:nvSpPr>
          <p:cNvPr id="8" name="可用余额">
            <a:extLst xmlns:a="http://schemas.openxmlformats.org/drawingml/2006/main">
              <a:ext uri="{FF2B5EF4-FFF2-40B4-BE49-F238E27FC236}">
                <a16:creationId xmlns:a16="http://schemas.microsoft.com/office/drawing/2014/main" id="{CD4719B1-486B-47FD-A85D-1BBCD937B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28825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rPr>
              <a:t>可用余额</a:t>
            </a:r>
          </a:p>
        </p:txBody>
      </p:sp>
      <p:sp>
        <p:nvSpPr>
          <p:cNvPr id="9" name="已经到账、可以支付的资金">
            <a:extLst xmlns:a="http://schemas.openxmlformats.org/drawingml/2006/main">
              <a:ext uri="{FF2B5EF4-FFF2-40B4-BE49-F238E27FC236}">
                <a16:creationId xmlns:a16="http://schemas.microsoft.com/office/drawing/2014/main" id="{2BB3D03E-07AE-47ED-BF1C-77A0C65A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43175"/>
            <a:ext cx="323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rPr>
              <a:t>已经到账、可以支付的资金</a:t>
            </a:r>
          </a:p>
        </p:txBody>
      </p:sp>
      <p:sp>
        <p:nvSpPr>
          <p:cNvPr id="10" name="临时占款">
            <a:extLst xmlns:a="http://schemas.openxmlformats.org/drawingml/2006/main">
              <a:ext uri="{FF2B5EF4-FFF2-40B4-BE49-F238E27FC236}">
                <a16:creationId xmlns:a16="http://schemas.microsoft.com/office/drawing/2014/main" id="{E95673B4-23BF-4792-93D2-8B1061E6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288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rPr>
              <a:t>临时占款</a:t>
            </a:r>
          </a:p>
        </p:txBody>
      </p:sp>
      <p:sp>
        <p:nvSpPr>
          <p:cNvPr id="11" name="所有尚未实际退款的支出">
            <a:extLst xmlns:a="http://schemas.openxmlformats.org/drawingml/2006/main">
              <a:ext uri="{FF2B5EF4-FFF2-40B4-BE49-F238E27FC236}">
                <a16:creationId xmlns:a16="http://schemas.microsoft.com/office/drawing/2014/main" id="{609DBA8A-F731-4F04-B91D-FA7B7FD3C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43175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rPr>
              <a:t>所有尚未实际退款的支出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FF6213-5B60-4344-9719-85C6AA6B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E2EF"/>
            </a:solidFill>
            <a:prstDash val="solid"/>
          </a:ln>
        </p:spPr>
      </p:sp>
      <p:sp>
        <p:nvSpPr>
          <p:cNvPr id="13" name="换订顺序：先确认新单，再取消旧单">
            <a:extLst xmlns:a="http://schemas.openxmlformats.org/drawingml/2006/main">
              <a:ext uri="{FF2B5EF4-FFF2-40B4-BE49-F238E27FC236}">
                <a16:creationId xmlns:a16="http://schemas.microsoft.com/office/drawing/2014/main" id="{40372760-5482-4790-8430-8FD9CF1B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rPr>
              <a:t>换订顺序：先确认新单，再取消旧单</a:t>
            </a:r>
          </a:p>
        </p:txBody>
      </p:sp>
      <p:sp>
        <p:nvSpPr>
          <p:cNvPr id="14" name="退款到账前，两笔支出一起占款。退款等待期间暂停继续换">
            <a:extLst xmlns:a="http://schemas.openxmlformats.org/drawingml/2006/main">
              <a:ext uri="{FF2B5EF4-FFF2-40B4-BE49-F238E27FC236}">
                <a16:creationId xmlns:a16="http://schemas.microsoft.com/office/drawing/2014/main" id="{A7CACB9A-7C95-41A3-BB83-99A9E2AF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rPr>
              <a:t>退款到账前，两笔支出一起占款。退款等待期间暂停继续换订。</a:t>
            </a:r>
          </a:p>
        </p:txBody>
      </p:sp>
      <p:sp>
        <p:nvSpPr>
          <p:cNvPr id="15" name="净节省至少 ¥50，且达到旧订单总价的 5%">
            <a:extLst xmlns:a="http://schemas.openxmlformats.org/drawingml/2006/main">
              <a:ext uri="{FF2B5EF4-FFF2-40B4-BE49-F238E27FC236}">
                <a16:creationId xmlns:a16="http://schemas.microsoft.com/office/drawing/2014/main" id="{3D75C82A-6DB1-4702-A74C-3D4E3985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rPr>
              <a:t>净节省至少 ¥50，且达到旧订单总价的 5%</a:t>
            </a:r>
          </a:p>
        </p:txBody>
      </p:sp>
      <p:sp>
        <p:nvSpPr>
          <p:cNvPr id="16" name="新方案的降级档位和个人差评风险均不能变差。">
            <a:extLst xmlns:a="http://schemas.openxmlformats.org/drawingml/2006/main">
              <a:ext uri="{FF2B5EF4-FFF2-40B4-BE49-F238E27FC236}">
                <a16:creationId xmlns:a16="http://schemas.microsoft.com/office/drawing/2014/main" id="{1D75AC7A-4F10-4550-ABE5-FED0CA17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rPr>
              <a:t>新方案的降级档位和个人差评风险均不能变差。</a:t>
            </a:r>
          </a:p>
        </p:txBody>
      </p:sp>
    </p:spTree>
    <p:extLst>
      <p:ext uri="{BB962C8B-B14F-4D97-AF65-F5344CB8AC3E}">
        <p14:creationId xmlns:p14="http://schemas.microsoft.com/office/powerpoint/2010/main" val="15206125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评论证据支持每一个决定">
            <a:extLst xmlns:a="http://schemas.openxmlformats.org/drawingml/2006/main">
              <a:ext uri="{FF2B5EF4-FFF2-40B4-BE49-F238E27FC236}">
                <a16:creationId xmlns:a16="http://schemas.microsoft.com/office/drawing/2014/main" id="{8D42187B-AA8F-4735-8D42-E1D1D86D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375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75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rPr>
              <a:t>评论证据支持每一个决定</a:t>
            </a:r>
          </a:p>
        </p:txBody>
      </p:sp>
      <p:sp>
        <p:nvSpPr>
          <p:cNvPr id="2" name="保留原文、来源日期和已读样本，解释个人取舍">
            <a:extLst xmlns:a="http://schemas.openxmlformats.org/drawingml/2006/main">
              <a:ext uri="{FF2B5EF4-FFF2-40B4-BE49-F238E27FC236}">
                <a16:creationId xmlns:a16="http://schemas.microsoft.com/office/drawing/2014/main" id="{1CBD8DA1-9CBD-4A65-A1DF-71834198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15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rPr>
              <a:t>保留原文、来源日期和已读样本，解释个人取舍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FD10FE-A88A-4CEB-857B-14BA43BE7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E2EF"/>
            </a:solidFill>
            <a:prstDash val="solid"/>
          </a:ln>
        </p:spPr>
      </p:sp>
      <p:sp>
        <p:nvSpPr>
          <p:cNvPr id="4" name="StayPilot · 仿真市场与测试资金">
            <a:extLst xmlns:a="http://schemas.openxmlformats.org/drawingml/2006/main">
              <a:ext uri="{FF2B5EF4-FFF2-40B4-BE49-F238E27FC236}">
                <a16:creationId xmlns:a16="http://schemas.microsoft.com/office/drawing/2014/main" id="{415C15F3-3049-4EC5-8271-799D7343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rPr>
              <a:t>StayPilot · 仿真市场与测试资金</a:t>
            </a:r>
          </a:p>
        </p:txBody>
      </p:sp>
      <p:sp>
        <p:nvSpPr>
          <p:cNvPr id="5" name="5">
            <a:extLst xmlns:a="http://schemas.openxmlformats.org/drawingml/2006/main">
              <a:ext uri="{FF2B5EF4-FFF2-40B4-BE49-F238E27FC236}">
                <a16:creationId xmlns:a16="http://schemas.microsoft.com/office/drawing/2014/main" id="{2EA02184-3B8A-465C-83A8-688F6045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2460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6" name="“早餐种类不多，热菜补充较慢。”">
            <a:extLst xmlns:a="http://schemas.openxmlformats.org/drawingml/2006/main">
              <a:ext uri="{FF2B5EF4-FFF2-40B4-BE49-F238E27FC236}">
                <a16:creationId xmlns:a16="http://schemas.microsoft.com/office/drawing/2014/main" id="{A1DCCB20-3CFC-46FD-847B-69A7FEF5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rPr>
              <a:t>“早餐种类不多，热菜补充较慢。”</a:t>
            </a:r>
          </a:p>
        </p:txBody>
      </p:sp>
      <p:sp>
        <p:nvSpPr>
          <p:cNvPr id="7" name="测试评论 · 湖畔时光酒店 · 平台 A · 202">
            <a:extLst xmlns:a="http://schemas.openxmlformats.org/drawingml/2006/main">
              <a:ext uri="{FF2B5EF4-FFF2-40B4-BE49-F238E27FC236}">
                <a16:creationId xmlns:a16="http://schemas.microsoft.com/office/drawing/2014/main" id="{F20B6ED2-9FBD-4809-AA8C-86B9DD16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972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rPr>
              <a:t>测试评论 · 湖畔时光酒店 · 平台 A · 2026 年 9 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26DD47-A0B6-4F8A-8465-6C80BA7E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E2EF"/>
            </a:solidFill>
            <a:prstDash val="solid"/>
          </a:ln>
        </p:spPr>
      </p:sp>
      <p:sp>
        <p:nvSpPr>
          <p:cNvPr id="9" name="2 / 8">
            <a:extLst xmlns:a="http://schemas.openxmlformats.org/drawingml/2006/main">
              <a:ext uri="{FF2B5EF4-FFF2-40B4-BE49-F238E27FC236}">
                <a16:creationId xmlns:a16="http://schemas.microsoft.com/office/drawing/2014/main" id="{463458CD-5B9E-4C33-A551-40378C4D8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27432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425" b="1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4425" b="1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425" b="1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rPr>
              <a:t>2 / 8</a:t>
            </a:r>
          </a:p>
        </p:txBody>
      </p:sp>
      <p:sp>
        <p:nvSpPr>
          <p:cNvPr id="10" name="已读评论提到早餐问题">
            <a:extLst xmlns:a="http://schemas.openxmlformats.org/drawingml/2006/main">
              <a:ext uri="{FF2B5EF4-FFF2-40B4-BE49-F238E27FC236}">
                <a16:creationId xmlns:a16="http://schemas.microsoft.com/office/drawing/2014/main" id="{D1D1DFE7-4B99-4C4D-BFFD-B2D7A716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2743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rPr>
              <a:t>已读评论提到早餐问题</a:t>
            </a:r>
          </a:p>
        </p:txBody>
      </p:sp>
      <p:sp>
        <p:nvSpPr>
          <p:cNvPr id="11" name="个人权重 0">
            <a:extLst xmlns:a="http://schemas.openxmlformats.org/drawingml/2006/main">
              <a:ext uri="{FF2B5EF4-FFF2-40B4-BE49-F238E27FC236}">
                <a16:creationId xmlns:a16="http://schemas.microsoft.com/office/drawing/2014/main" id="{FFD2E082-C551-40EA-9110-2C223C92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638550"/>
            <a:ext cx="34004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rPr>
              <a:t>个人权重 0</a:t>
            </a:r>
          </a:p>
        </p:txBody>
      </p:sp>
      <p:sp>
        <p:nvSpPr>
          <p:cNvPr id="12" name="用户不在意早餐丰富度，&#10;此问题不增加个人风险。">
            <a:extLst xmlns:a="http://schemas.openxmlformats.org/drawingml/2006/main">
              <a:ext uri="{FF2B5EF4-FFF2-40B4-BE49-F238E27FC236}">
                <a16:creationId xmlns:a16="http://schemas.microsoft.com/office/drawing/2014/main" id="{E6650B02-1519-456A-802F-99CAE7DF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438650"/>
            <a:ext cx="34004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rPr>
              <a:t>用户不在意早餐丰富度，</a:t>
            </a:r>
          </a:p>
          <a:p xmlns:a="http://schemas.openxmlformats.org/drawingml/2006/main">
            <a:pPr algn="l">
              <a:defRPr sz="19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rPr>
              <a:t>此问题不增加个人风险。</a:t>
            </a:r>
          </a:p>
        </p:txBody>
      </p:sp>
      <p:sp>
        <p:nvSpPr>
          <p:cNvPr id="13" name="保留候选">
            <a:extLst xmlns:a="http://schemas.openxmlformats.org/drawingml/2006/main">
              <a:ext uri="{FF2B5EF4-FFF2-40B4-BE49-F238E27FC236}">
                <a16:creationId xmlns:a16="http://schemas.microsoft.com/office/drawing/2014/main" id="{98FF2A8E-B67B-4373-897B-999FE587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38550"/>
            <a:ext cx="33051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4775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4775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14775B"/>
                </a:solidFill>
                <a:latin typeface="Arial Unicode MS"/>
                <a:ea typeface="Arial Unicode MS"/>
                <a:cs typeface="Arial Unicode MS"/>
              </a:rPr>
              <a:t>保留候选</a:t>
            </a:r>
          </a:p>
        </p:txBody>
      </p:sp>
      <p:sp>
        <p:nvSpPr>
          <p:cNvPr id="14" name="继续核验位置、含税总价&#10;和取消条款。">
            <a:extLst xmlns:a="http://schemas.openxmlformats.org/drawingml/2006/main">
              <a:ext uri="{FF2B5EF4-FFF2-40B4-BE49-F238E27FC236}">
                <a16:creationId xmlns:a16="http://schemas.microsoft.com/office/drawing/2014/main" id="{F9D73799-C2D7-4167-B121-94F32E51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38650"/>
            <a:ext cx="330517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rPr>
              <a:t>继续核验位置、含税总价</a:t>
            </a:r>
          </a:p>
          <a:p xmlns:a="http://schemas.openxmlformats.org/drawingml/2006/main">
            <a:pPr algn="l">
              <a:defRPr sz="19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rPr>
              <a:t>和取消条款。</a:t>
            </a:r>
          </a:p>
        </p:txBody>
      </p:sp>
      <p:sp>
        <p:nvSpPr>
          <p:cNvPr id="15" name="决策记录关联依据、报价时间、授权版本与操作截图。">
            <a:extLst xmlns:a="http://schemas.openxmlformats.org/drawingml/2006/main">
              <a:ext uri="{FF2B5EF4-FFF2-40B4-BE49-F238E27FC236}">
                <a16:creationId xmlns:a16="http://schemas.microsoft.com/office/drawing/2014/main" id="{711C5CF7-935D-45C5-9946-C8207A91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rPr>
              <a:t>决策记录关联依据、报价时间、授权版本与操作截图。</a:t>
            </a:r>
          </a:p>
        </p:txBody>
      </p:sp>
    </p:spTree>
    <p:extLst>
      <p:ext uri="{BB962C8B-B14F-4D97-AF65-F5344CB8AC3E}">
        <p14:creationId xmlns:p14="http://schemas.microsoft.com/office/powerpoint/2010/main" val="14940170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可回放的交易与失败场景">
            <a:extLst xmlns:a="http://schemas.openxmlformats.org/drawingml/2006/main">
              <a:ext uri="{FF2B5EF4-FFF2-40B4-BE49-F238E27FC236}">
                <a16:creationId xmlns:a16="http://schemas.microsoft.com/office/drawing/2014/main" id="{071FBB5D-B76D-44A4-BEBD-C06E71A8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375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75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rPr>
              <a:t>可回放的交易与失败场景</a:t>
            </a:r>
          </a:p>
        </p:txBody>
      </p:sp>
      <p:sp>
        <p:nvSpPr>
          <p:cNvPr id="2" name="成功路径和阻断结果都进入订单、资金与审计记录">
            <a:extLst xmlns:a="http://schemas.openxmlformats.org/drawingml/2006/main">
              <a:ext uri="{FF2B5EF4-FFF2-40B4-BE49-F238E27FC236}">
                <a16:creationId xmlns:a16="http://schemas.microsoft.com/office/drawing/2014/main" id="{1B8BBC73-E0D5-4769-A1AB-430590DF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15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rPr>
              <a:t>成功路径和阻断结果都进入订单、资金与审计记录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2B5B40-7645-41C4-AD77-32C885C2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E2EF"/>
            </a:solidFill>
            <a:prstDash val="solid"/>
          </a:ln>
        </p:spPr>
      </p:sp>
      <p:sp>
        <p:nvSpPr>
          <p:cNvPr id="4" name="StayPilot · 仿真市场与测试资金">
            <a:extLst xmlns:a="http://schemas.openxmlformats.org/drawingml/2006/main">
              <a:ext uri="{FF2B5EF4-FFF2-40B4-BE49-F238E27FC236}">
                <a16:creationId xmlns:a16="http://schemas.microsoft.com/office/drawing/2014/main" id="{FC7AD258-CF7F-4135-8B60-F5748D67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rPr>
              <a:t>StayPilot · 仿真市场与测试资金</a:t>
            </a:r>
          </a:p>
        </p:txBody>
      </p:sp>
      <p:sp>
        <p:nvSpPr>
          <p:cNvPr id="5" name="6">
            <a:extLst xmlns:a="http://schemas.openxmlformats.org/drawingml/2006/main">
              <a:ext uri="{FF2B5EF4-FFF2-40B4-BE49-F238E27FC236}">
                <a16:creationId xmlns:a16="http://schemas.microsoft.com/office/drawing/2014/main" id="{BEB34ED3-F467-4A8E-9A5B-87983B5E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2460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E31406-7E5C-4EBA-BC16-51A5636C73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463fd9ec6e4c17"/>
          <a:srcRect xmlns:a="http://schemas.openxmlformats.org/drawingml/2006/main" l="9722" t="31800" r="9722" b="55800"/>
          <a:stretch xmlns:a="http://schemas.openxmlformats.org/drawingml/2006/main"/>
        </p:blipFill>
        <p:spPr>
          <a:xfrm xmlns:a="http://schemas.openxmlformats.org/drawingml/2006/main">
            <a:off x="609600" y="2171700"/>
            <a:ext cx="10972800" cy="1181100"/>
          </a:xfrm>
          <a:prstGeom xmlns:a="http://schemas.openxmlformats.org/drawingml/2006/main" prst="rect">
            <a:avLst/>
          </a:prstGeom>
        </p:spPr>
      </p:pic>
      <p:sp>
        <p:nvSpPr>
          <p:cNvPr id="7" name="本地实际换订">
            <a:extLst xmlns:a="http://schemas.openxmlformats.org/drawingml/2006/main">
              <a:ext uri="{FF2B5EF4-FFF2-40B4-BE49-F238E27FC236}">
                <a16:creationId xmlns:a16="http://schemas.microsoft.com/office/drawing/2014/main" id="{084526F6-2234-4D20-8283-DA3BF14C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rPr>
              <a:t>本地实际换订</a:t>
            </a:r>
          </a:p>
        </p:txBody>
      </p:sp>
      <p:sp>
        <p:nvSpPr>
          <p:cNvPr id="8" name="¥455 换为 ¥315">
            <a:extLst xmlns:a="http://schemas.openxmlformats.org/drawingml/2006/main">
              <a:ext uri="{FF2B5EF4-FFF2-40B4-BE49-F238E27FC236}">
                <a16:creationId xmlns:a16="http://schemas.microsoft.com/office/drawing/2014/main" id="{7D69692E-4998-46B0-87D0-1E1B8F69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925" b="1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rPr>
              <a:t>¥455 换为 ¥315</a:t>
            </a:r>
          </a:p>
        </p:txBody>
      </p:sp>
      <p:sp>
        <p:nvSpPr>
          <p:cNvPr id="9" name="旧单退款已到账">
            <a:extLst xmlns:a="http://schemas.openxmlformats.org/drawingml/2006/main">
              <a:ext uri="{FF2B5EF4-FFF2-40B4-BE49-F238E27FC236}">
                <a16:creationId xmlns:a16="http://schemas.microsoft.com/office/drawing/2014/main" id="{FF1F947C-1422-4D07-A4B3-88CBD4C6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rPr>
              <a:t>旧单退款已到账</a:t>
            </a:r>
          </a:p>
        </p:txBody>
      </p:sp>
      <p:sp>
        <p:nvSpPr>
          <p:cNvPr id="10" name="服务端实际阻断">
            <a:extLst xmlns:a="http://schemas.openxmlformats.org/drawingml/2006/main">
              <a:ext uri="{FF2B5EF4-FFF2-40B4-BE49-F238E27FC236}">
                <a16:creationId xmlns:a16="http://schemas.microsoft.com/office/drawing/2014/main" id="{38C45EC2-EF4F-4BDE-A273-28DBB240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1002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B64B4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B64B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B64B43"/>
                </a:solidFill>
                <a:latin typeface="Arial Unicode MS"/>
                <a:ea typeface="Arial Unicode MS"/>
                <a:cs typeface="Arial Unicode MS"/>
              </a:rPr>
              <a:t>服务端实际阻断</a:t>
            </a:r>
          </a:p>
        </p:txBody>
      </p:sp>
      <p:sp>
        <p:nvSpPr>
          <p:cNvPr id="11" name="含税总价升到 ¥1,555&#10;超过 ¥1,000 预算">
            <a:extLst xmlns:a="http://schemas.openxmlformats.org/drawingml/2006/main">
              <a:ext uri="{FF2B5EF4-FFF2-40B4-BE49-F238E27FC236}">
                <a16:creationId xmlns:a16="http://schemas.microsoft.com/office/drawing/2014/main" id="{DAC0C726-26AB-4E88-B728-B1F116D2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57725"/>
            <a:ext cx="5143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rPr>
              <a:t>含税总价升到 ¥1,555</a:t>
            </a:r>
          </a:p>
          <a:p xmlns:a="http://schemas.openxmlformats.org/drawingml/2006/main">
            <a:pPr algn="l">
              <a:defRPr sz="2025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rPr>
              <a:t>超过 ¥1,000 预算</a:t>
            </a:r>
          </a:p>
          <a:p xmlns:a="http://schemas.openxmlformats.org/drawingml/2006/main">
            <a:pPr algn="l">
              <a:defRPr sz="2025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rPr>
              <a:t>钱包没有扣款</a:t>
            </a:r>
          </a:p>
        </p:txBody>
      </p:sp>
    </p:spTree>
    <p:extLst>
      <p:ext uri="{BB962C8B-B14F-4D97-AF65-F5344CB8AC3E}">
        <p14:creationId xmlns:p14="http://schemas.microsoft.com/office/powerpoint/2010/main" val="20961948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首版边界与真实平台接入">
            <a:extLst xmlns:a="http://schemas.openxmlformats.org/drawingml/2006/main">
              <a:ext uri="{FF2B5EF4-FFF2-40B4-BE49-F238E27FC236}">
                <a16:creationId xmlns:a16="http://schemas.microsoft.com/office/drawing/2014/main" id="{9E84BCCA-7ECC-4D87-8873-5A6AE45F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375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75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rPr>
              <a:t>首版边界与真实平台接入</a:t>
            </a:r>
          </a:p>
        </p:txBody>
      </p:sp>
      <p:sp>
        <p:nvSpPr>
          <p:cNvPr id="2" name="可运行的仿真闭环，为真实商户适配提供接口">
            <a:extLst xmlns:a="http://schemas.openxmlformats.org/drawingml/2006/main">
              <a:ext uri="{FF2B5EF4-FFF2-40B4-BE49-F238E27FC236}">
                <a16:creationId xmlns:a16="http://schemas.microsoft.com/office/drawing/2014/main" id="{0961E038-7F0F-4B9F-B1B1-22510E7B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15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rPr>
              <a:t>可运行的仿真闭环，为真实商户适配提供接口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D7B5D5-65AA-49F4-8929-AD09CFDD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E2EF"/>
            </a:solidFill>
            <a:prstDash val="solid"/>
          </a:ln>
        </p:spPr>
      </p:sp>
      <p:sp>
        <p:nvSpPr>
          <p:cNvPr id="4" name="StayPilot · 仿真市场与测试资金">
            <a:extLst xmlns:a="http://schemas.openxmlformats.org/drawingml/2006/main">
              <a:ext uri="{FF2B5EF4-FFF2-40B4-BE49-F238E27FC236}">
                <a16:creationId xmlns:a16="http://schemas.microsoft.com/office/drawing/2014/main" id="{90FA5A24-108B-4291-85DC-F05A2F44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rPr>
              <a:t>StayPilot · 仿真市场与测试资金</a:t>
            </a:r>
          </a:p>
        </p:txBody>
      </p:sp>
      <p:sp>
        <p:nvSpPr>
          <p:cNvPr id="5" name="7">
            <a:extLst xmlns:a="http://schemas.openxmlformats.org/drawingml/2006/main">
              <a:ext uri="{FF2B5EF4-FFF2-40B4-BE49-F238E27FC236}">
                <a16:creationId xmlns:a16="http://schemas.microsoft.com/office/drawing/2014/main" id="{1947505C-2240-4A4E-B457-37832984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2460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rPr>
              <a:t>7</a:t>
            </a:r>
          </a:p>
        </p:txBody>
      </p:sp>
      <p:sp>
        <p:nvSpPr>
          <p:cNvPr id="6" name="当前首版">
            <a:extLst xmlns:a="http://schemas.openxmlformats.org/drawingml/2006/main">
              <a:ext uri="{FF2B5EF4-FFF2-40B4-BE49-F238E27FC236}">
                <a16:creationId xmlns:a16="http://schemas.microsoft.com/office/drawing/2014/main" id="{7D06A85F-F19D-4A73-9972-05B2D19B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rPr>
              <a:t>当前首版</a:t>
            </a:r>
          </a:p>
        </p:txBody>
      </p:sp>
      <p:sp>
        <p:nvSpPr>
          <p:cNvPr id="7" name="单目的地、固定日期、人民币。三平台与 20 家测试酒">
            <a:extLst xmlns:a="http://schemas.openxmlformats.org/drawingml/2006/main">
              <a:ext uri="{FF2B5EF4-FFF2-40B4-BE49-F238E27FC236}">
                <a16:creationId xmlns:a16="http://schemas.microsoft.com/office/drawing/2014/main" id="{0C5668FB-8709-4A3D-8D3F-B8C3410A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rPr>
              <a:t>单目的地、固定日期、人民币。三平台与 20 家测试酒店。</a:t>
            </a:r>
          </a:p>
        </p:txBody>
      </p:sp>
      <p:sp>
        <p:nvSpPr>
          <p:cNvPr id="8" name="后端规则检查预算与权限。模型辅助偏好提取为可选能力。">
            <a:extLst xmlns:a="http://schemas.openxmlformats.org/drawingml/2006/main">
              <a:ext uri="{FF2B5EF4-FFF2-40B4-BE49-F238E27FC236}">
                <a16:creationId xmlns:a16="http://schemas.microsoft.com/office/drawing/2014/main" id="{8DBD2617-7CA7-40DC-83AF-2931FADE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rPr>
              <a:t>后端规则检查预算与权限。模型辅助偏好提取为可选能力。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64D4C2-E964-45D6-95C1-8844A548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E2EF"/>
            </a:solidFill>
            <a:prstDash val="solid"/>
          </a:ln>
        </p:spPr>
      </p:sp>
      <p:sp>
        <p:nvSpPr>
          <p:cNvPr id="10" name="下一步">
            <a:extLst xmlns:a="http://schemas.openxmlformats.org/drawingml/2006/main">
              <a:ext uri="{FF2B5EF4-FFF2-40B4-BE49-F238E27FC236}">
                <a16:creationId xmlns:a16="http://schemas.microsoft.com/office/drawing/2014/main" id="{F1D61FA1-AB9A-401D-B6F6-698CF6FA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rPr>
              <a:t>下一步</a:t>
            </a:r>
          </a:p>
        </p:txBody>
      </p:sp>
      <p:sp>
        <p:nvSpPr>
          <p:cNvPr id="11" name="在商户授权接口上接入真实报价与库存，再接支付及退款。">
            <a:extLst xmlns:a="http://schemas.openxmlformats.org/drawingml/2006/main">
              <a:ext uri="{FF2B5EF4-FFF2-40B4-BE49-F238E27FC236}">
                <a16:creationId xmlns:a16="http://schemas.microsoft.com/office/drawing/2014/main" id="{65A575B9-6FD4-4BF1-AC7C-094932A5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rPr>
              <a:t>在商户授权接口上接入真实报价与库存，再接支付及退款。</a:t>
            </a:r>
          </a:p>
        </p:txBody>
      </p:sp>
      <p:sp>
        <p:nvSpPr>
          <p:cNvPr id="12" name="真实运营表现需要接入后测量。">
            <a:extLst xmlns:a="http://schemas.openxmlformats.org/drawingml/2006/main">
              <a:ext uri="{FF2B5EF4-FFF2-40B4-BE49-F238E27FC236}">
                <a16:creationId xmlns:a16="http://schemas.microsoft.com/office/drawing/2014/main" id="{4890045B-667F-4D6F-96F1-E64BC7BD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rPr>
              <a:t>真实运营表现需要接入后测量。</a:t>
            </a:r>
          </a:p>
        </p:txBody>
      </p:sp>
    </p:spTree>
    <p:extLst>
      <p:ext uri="{BB962C8B-B14F-4D97-AF65-F5344CB8AC3E}">
        <p14:creationId xmlns:p14="http://schemas.microsoft.com/office/powerpoint/2010/main" val="13073038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2026-10-03T10:35:41.7470000Z</dcterms:created>
  <dcterms:modified xsi:type="dcterms:W3CDTF">2026-10-03T10:35:41.7470000Z</dcterms:modified>
</coreProperties>
</file>