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e5295fa3848c3" /><Relationship Type="http://schemas.openxmlformats.org/officeDocument/2006/relationships/extended-properties" Target="/docProps/app.xml" Id="Ra30158a7c3494a56" /><Relationship Type="http://schemas.openxmlformats.org/officeDocument/2006/relationships/officeDocument" Target="/ppt/presentation.xml" Id="R334789a92e71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24a06adca04305"/>
  </p:sldMasterIdLst>
  <p:notesMasterIdLst>
    <p:notesMasterId xmlns:r="http://schemas.openxmlformats.org/officeDocument/2006/relationships" r:id="R99811dafaf5b48da"/>
  </p:notesMasterIdLst>
  <p:sldIdLst>
    <p:sldId xmlns:r="http://schemas.openxmlformats.org/officeDocument/2006/relationships" id="256" r:id="R07165502ca934da3"/>
    <p:sldId xmlns:r="http://schemas.openxmlformats.org/officeDocument/2006/relationships" id="257" r:id="Red99940785a04604"/>
    <p:sldId xmlns:r="http://schemas.openxmlformats.org/officeDocument/2006/relationships" id="258" r:id="R5ae9a992666a4b00"/>
    <p:sldId xmlns:r="http://schemas.openxmlformats.org/officeDocument/2006/relationships" id="259" r:id="Rcb12195e17044ae0"/>
    <p:sldId xmlns:r="http://schemas.openxmlformats.org/officeDocument/2006/relationships" id="260" r:id="R9442c338315548e8"/>
    <p:sldId xmlns:r="http://schemas.openxmlformats.org/officeDocument/2006/relationships" id="261" r:id="R7e6a7a0eb4964c55"/>
    <p:sldId xmlns:r="http://schemas.openxmlformats.org/officeDocument/2006/relationships" id="262" r:id="R09793b58a9c84e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bfafaefb44422" /><Relationship Type="http://schemas.openxmlformats.org/officeDocument/2006/relationships/slideMaster" Target="/ppt/slideMasters/slideMaster1.xml" Id="R7d24a06adca04305" /><Relationship Type="http://schemas.openxmlformats.org/officeDocument/2006/relationships/notesMaster" Target="/ppt/notesMasters/notesMaster1.xml" Id="R99811dafaf5b48da" /><Relationship Type="http://schemas.openxmlformats.org/officeDocument/2006/relationships/presProps" Target="/ppt/presProps.xml" Id="Rfd0724bb2ed5488a" /><Relationship Type="http://schemas.openxmlformats.org/officeDocument/2006/relationships/tableStyles" Target="/ppt/tableStyles.xml" Id="Rbab9ec1070e44f50" /><Relationship Type="http://schemas.openxmlformats.org/officeDocument/2006/relationships/slide" Target="/ppt/slides/slide1.xml" Id="R07165502ca934da3" /><Relationship Type="http://schemas.openxmlformats.org/officeDocument/2006/relationships/slide" Target="/ppt/slides/slide2.xml" Id="Red99940785a04604" /><Relationship Type="http://schemas.openxmlformats.org/officeDocument/2006/relationships/slide" Target="/ppt/slides/slide3.xml" Id="R5ae9a992666a4b00" /><Relationship Type="http://schemas.openxmlformats.org/officeDocument/2006/relationships/slide" Target="/ppt/slides/slide4.xml" Id="Rcb12195e17044ae0" /><Relationship Type="http://schemas.openxmlformats.org/officeDocument/2006/relationships/slide" Target="/ppt/slides/slide5.xml" Id="R9442c338315548e8" /><Relationship Type="http://schemas.openxmlformats.org/officeDocument/2006/relationships/slide" Target="/ppt/slides/slide6.xml" Id="R7e6a7a0eb4964c55" /><Relationship Type="http://schemas.openxmlformats.org/officeDocument/2006/relationships/slide" Target="/ppt/slides/slide7.xml" Id="R09793b58a9c8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5fb663654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7e342fc504b48" /><Relationship Type="http://schemas.openxmlformats.org/officeDocument/2006/relationships/notesMaster" Target="/ppt/notesMasters/notesMaster1.xml" Id="Rfb2af6d5be20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14a6760d934268" /><Relationship Type="http://schemas.openxmlformats.org/officeDocument/2006/relationships/notesMaster" Target="/ppt/notesMasters/notesMaster1.xml" Id="R188e95b665e6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a62c7130714ca6" /><Relationship Type="http://schemas.openxmlformats.org/officeDocument/2006/relationships/notesMaster" Target="/ppt/notesMasters/notesMaster1.xml" Id="Rebd85c5fe11245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174f3e33ba428b" /><Relationship Type="http://schemas.openxmlformats.org/officeDocument/2006/relationships/notesMaster" Target="/ppt/notesMasters/notesMaster1.xml" Id="R1c657930582e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a5adfaa224a31" /><Relationship Type="http://schemas.openxmlformats.org/officeDocument/2006/relationships/notesMaster" Target="/ppt/notesMasters/notesMaster1.xml" Id="R9017b4ccfdaa43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51de773747488c" /><Relationship Type="http://schemas.openxmlformats.org/officeDocument/2006/relationships/notesMaster" Target="/ppt/notesMasters/notesMaster1.xml" Id="R1f9d423c693545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e5a097c364a34" /><Relationship Type="http://schemas.openxmlformats.org/officeDocument/2006/relationships/notesMaster" Target="/ppt/notesMasters/notesMaster1.xml" Id="Rff30f32e8d79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订酒店时，用户必须同时判断位置、口碑、取消政策和变化的价格。预算不足时，更难的是明确什么可以退一步。StayPilot 让用户先确认自己的取舍，再在授权内持续执行。三平台交易闭环采用测试资金；另有飞猪真实搜索，真实订单与支付尚未启用。约20秒。</a:t>
            </a:r>
          </a:p>
          <a:p xmlns:a="http://schemas.openxmlformats.org/drawingml/2006/main">
            <a:r>
              <a:t>来源：用户需求；docs/flyai-real-verification.md；官方 FlyAI https://github.com/alibaba-flyai/flyai-skill。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先区分底线和期待。必须有窗时，无窗不能因降级被自动接受；优先有窗时，只有明确授权无窗步骤才会放宽。卫生、噪声和气味按用户容忍度判断。降级有顺序，未知字段不会被认定满足。约25秒。</a:t>
            </a:r>
          </a:p>
          <a:p xmlns:a="http://schemas.openxmlformats.org/drawingml/2006/main">
            <a:r>
              <a:t>来源：shared/types.ts、server/engine.ts、tests/journey.test.ts。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六个独立界面依次显示行程、取舍授权、初筛评论、跨平台比价、预订或阻断、订后监控。进度来自实际状态，看到列表不等于读完评论或确认订单。仿真智能体用 Playwright 打开三家网页，读取详情与评论并提交测试交易。20家酒店共享身份，报价、库存与取消条款分别核验。约25秒。</a:t>
            </a:r>
          </a:p>
          <a:p xmlns:a="http://schemas.openxmlformats.org/drawingml/2006/main">
            <a:r>
              <a:t>来源：src/App.tsx Journey、shared/journey.ts、server/browser-agent.ts；32项单元测试、9项浏览验证与6项截止验证通过，见本地验收记录。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便宜的不可取消报价，需要用户明确授权才能买。限时可取消房可以继续优化，但新方案不能降低住宿档位或提高个人差评风险。换订至少节省五十元且达到旧订单的百分之五。系统先确认新订单，再退旧订单，同时检查钱包能否承担两笔占款。退款实际到账前，这笔资金仍然不能重复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来源与说明：server/engine.ts 的服务端交易检查与换订守卫。金额和百分比是授权规则默认值，并非节省测量结果。讲述约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只是入口。智能体查看具体评论，把隔音、卫生、装修气味等问题分别统计，并结合个人重要程度判断。比如早餐问题在读取样本里出现两次，用户并不在意，就不应否决酒店。每个结论都连回原评论。候选排序、预算判断和下单结果同时保留，用户能看见依据，而不是只收到一个推荐名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来源与说明：server/seed.ts 的 h01 种子评论：8 条中的 2 条早餐问题，平台 A 评论日期 2026-09-27、2026-09-25。个人早餐默认权重为 0。server/engine.ts 风险算法是问题样本比例乘用户权重。此比例只描述已读测试样本，不代表真实住客总体。讲述约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商户实际执行455元首订、315元换订。先确认新单、再退旧单，退款未到账时占款770元，到账后只留下315元住宿。税费升至1555元时，1000元预算导致后端实际阻断，无扣款。这些是可复现测试金额，不是实际市场收益。约30秒。</a:t>
            </a:r>
          </a:p>
          <a:p xmlns:a="http://schemas.openxmlformats.org/drawingml/2006/main">
            <a:r>
              <a:t>来源：docs/browser-verification.json、docs/deadline-verification.json、docs/screenshots/budget-blocked.png。截图客房图为氛围示意；Kin Shing Lai https://unsplash.com/photos/a-bed-in-a-hotel-room-GOzvLXx4E-E，Unsplash License https://unsplash.com/license。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功能位置在筛选和价格提醒之后：把个人取舍转成授权，执行降级和换订，再核对失败与退款。这是对现有路线的功能比较，未测试所有竞品，不声称首创。飞猪真实接口已返回8家酒店，一个样例已核验网页评论；搜索价不是绑定房型和人数的含税成交总价。因此真实下单明确阻断。下一步向平台申请最终报价与沙箱订单权限，再验证商户退款和用户效果。约25秒。</a:t>
            </a:r>
          </a:p>
          <a:p xmlns:a="http://schemas.openxmlformats.org/drawingml/2006/main">
            <a:r>
              <a:t>来源：docs/competition-development-handbook.md 第8节，参考酒店agent.pdf案例；官方 FlyAI https://github.com/alibaba-flyai/flyai-skill，docs/flyai-real-verification.md。当前没有生产支付、真实收益、真人省时数据或市场规模宣称。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701e0cccc49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797bdb45049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1efd70944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7ba28285a4a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6d63fa5214b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6cba675604c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309B21-9026-4C30-AA09-F693BC2C3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276E3-B536-4636-B8CD-7E4B0D90D0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A2B723-CB3F-4A2D-B70E-BF81B69B8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9C2AC7-1F7C-44BC-8514-99EE7A275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5DB025-45C8-4B9A-B791-59F1240EB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94BD90-D72E-4100-B54A-57DCE95CA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F72720-5EFA-45DD-B51E-B828718DEB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2C58BD-2301-4DB0-9DE4-75161FED25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4F7A13-0964-4185-BDA1-ADEDBB5D8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8D9404-024D-451F-AE9B-3FA79098C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6b868bda4047de" /><Relationship Type="http://schemas.openxmlformats.org/officeDocument/2006/relationships/slideLayout" Target="/ppt/slideLayouts/slideLayout1.xml" Id="R8fc6b7a7b2224fe2" /><Relationship Type="http://schemas.openxmlformats.org/officeDocument/2006/relationships/slideLayout" Target="/ppt/slideLayouts/slideLayout2.xml" Id="R0b6836ea7b604633" /><Relationship Type="http://schemas.openxmlformats.org/officeDocument/2006/relationships/slideLayout" Target="/ppt/slideLayouts/slideLayout3.xml" Id="Rd916f913a0bc4556" /><Relationship Type="http://schemas.openxmlformats.org/officeDocument/2006/relationships/slideLayout" Target="/ppt/slideLayouts/slideLayout4.xml" Id="R6e12d6800d5d4be9" /><Relationship Type="http://schemas.openxmlformats.org/officeDocument/2006/relationships/slideLayout" Target="/ppt/slideLayouts/slideLayout5.xml" Id="Ra8c4057b943c4987" /><Relationship Type="http://schemas.openxmlformats.org/officeDocument/2006/relationships/slideLayout" Target="/ppt/slideLayouts/slideLayout6.xml" Id="R865dba83b548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6b7a7b2224fe2"/>
    <p:sldLayoutId xmlns:r="http://schemas.openxmlformats.org/officeDocument/2006/relationships" id="2147483650" r:id="R0b6836ea7b604633"/>
    <p:sldLayoutId xmlns:r="http://schemas.openxmlformats.org/officeDocument/2006/relationships" id="2147483651" r:id="Rd916f913a0bc4556"/>
    <p:sldLayoutId xmlns:r="http://schemas.openxmlformats.org/officeDocument/2006/relationships" id="2147483652" r:id="R6e12d6800d5d4be9"/>
    <p:sldLayoutId xmlns:r="http://schemas.openxmlformats.org/officeDocument/2006/relationships" id="2147483653" r:id="Ra8c4057b943c4987"/>
    <p:sldLayoutId xmlns:r="http://schemas.openxmlformats.org/officeDocument/2006/relationships" id="2147483654" r:id="R865dba83b548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50418f59c4fb4" /><Relationship Type="http://schemas.openxmlformats.org/officeDocument/2006/relationships/notesSlide" Target="/ppt/notesSlides/notesSlide1.xml" Id="R1742528011e7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f4338d1dd477d" /><Relationship Type="http://schemas.openxmlformats.org/officeDocument/2006/relationships/notesSlide" Target="/ppt/notesSlides/notesSlide2.xml" Id="R5f067aadd4c5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5acc341b94632" /><Relationship Type="http://schemas.openxmlformats.org/officeDocument/2006/relationships/notesSlide" Target="/ppt/notesSlides/notesSlide3.xml" Id="Rf12da238279047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e6b3be2924258" /><Relationship Type="http://schemas.openxmlformats.org/officeDocument/2006/relationships/notesSlide" Target="/ppt/notesSlides/notesSlide4.xml" Id="Radc822d90e4a42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95f1cbad249a4" /><Relationship Type="http://schemas.openxmlformats.org/officeDocument/2006/relationships/notesSlide" Target="/ppt/notesSlides/notesSlide5.xml" Id="Rcbb4997e289145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34a08a9994500" /><Relationship Type="http://schemas.openxmlformats.org/officeDocument/2006/relationships/image" Target="/ppt/media/image.png" Id="Rc6015702d4c344a9" /><Relationship Type="http://schemas.openxmlformats.org/officeDocument/2006/relationships/notesSlide" Target="/ppt/notesSlides/notesSlide6.xml" Id="Rce1588b894e748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114bda3124d9d" /><Relationship Type="http://schemas.openxmlformats.org/officeDocument/2006/relationships/notesSlide" Target="/ppt/notesSlides/notesSlide7.xml" Id="R48c3ba8b93c3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ayPilot">
            <a:extLst xmlns:a="http://schemas.openxmlformats.org/drawingml/2006/main">
              <a:ext uri="{FF2B5EF4-FFF2-40B4-BE49-F238E27FC236}">
                <a16:creationId xmlns:a16="http://schemas.microsoft.com/office/drawing/2014/main" id="{83D8517F-B80E-421D-BD95-7442721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StayPilot</a:t>
            </a:r>
          </a:p>
        </p:txBody>
      </p:sp>
      <p:sp>
        <p:nvSpPr>
          <p:cNvPr id="2" name="酒店选择需要持续判断">
            <a:extLst xmlns:a="http://schemas.openxmlformats.org/drawingml/2006/main">
              <a:ext uri="{FF2B5EF4-FFF2-40B4-BE49-F238E27FC236}">
                <a16:creationId xmlns:a16="http://schemas.microsoft.com/office/drawing/2014/main" id="{8423CBE6-E837-4FCD-B5C1-3B5A79D2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酒店选择需要持续判断</a:t>
            </a:r>
          </a:p>
        </p:txBody>
      </p:sp>
      <p:sp>
        <p:nvSpPr>
          <p:cNvPr id="3" name="按照你的取舍，持续寻找合适的酒店">
            <a:extLst xmlns:a="http://schemas.openxmlformats.org/drawingml/2006/main">
              <a:ext uri="{FF2B5EF4-FFF2-40B4-BE49-F238E27FC236}">
                <a16:creationId xmlns:a16="http://schemas.microsoft.com/office/drawing/2014/main" id="{6E777B57-7A6B-46D9-85B3-1FA18C95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按照你的取舍，持续寻找合适的酒店</a:t>
            </a:r>
          </a:p>
        </p:txBody>
      </p:sp>
      <p:sp>
        <p:nvSpPr>
          <p:cNvPr id="4" name="价格变化、跨平台条款和不同的差评，让一次搜索很难完成">
            <a:extLst xmlns:a="http://schemas.openxmlformats.org/drawingml/2006/main">
              <a:ext uri="{FF2B5EF4-FFF2-40B4-BE49-F238E27FC236}">
                <a16:creationId xmlns:a16="http://schemas.microsoft.com/office/drawing/2014/main" id="{7C7B3751-89D8-4EB0-B886-59184BD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价格变化、跨平台条款和不同的差评，让一次搜索很难完成决策。</a:t>
            </a:r>
          </a:p>
        </p:txBody>
      </p:sp>
      <p:sp>
        <p:nvSpPr>
          <p:cNvPr id="5" name="三平台自主预订仿真">
            <a:extLst xmlns:a="http://schemas.openxmlformats.org/drawingml/2006/main">
              <a:ext uri="{FF2B5EF4-FFF2-40B4-BE49-F238E27FC236}">
                <a16:creationId xmlns:a16="http://schemas.microsoft.com/office/drawing/2014/main" id="{1318625E-7C59-451B-A27C-A85A5BB7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三平台测试交易 + 飞猪真实查询</a:t>
            </a:r>
          </a:p>
        </p:txBody>
      </p:sp>
      <p:sp>
        <p:nvSpPr>
          <p:cNvPr id="6" name="酒店、评论、价格、订单与资金均为测试数据">
            <a:extLst xmlns:a="http://schemas.openxmlformats.org/drawingml/2006/main">
              <a:ext uri="{FF2B5EF4-FFF2-40B4-BE49-F238E27FC236}">
                <a16:creationId xmlns:a16="http://schemas.microsoft.com/office/drawing/2014/main" id="{1F900A90-4C9A-4B32-85C7-BAFD22C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交易闭环采用测试资金；真实查询独立展示，真实预订尚未启用</a:t>
            </a:r>
          </a:p>
        </p:txBody>
      </p:sp>
    </p:spTree>
    <p:extLst>
      <p:ext uri="{BB962C8B-B14F-4D97-AF65-F5344CB8AC3E}">
        <p14:creationId xmlns:p14="http://schemas.microsoft.com/office/powerpoint/2010/main" val="352731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每个人都有不同的住宿底线">
            <a:extLst xmlns:a="http://schemas.openxmlformats.org/drawingml/2006/main">
              <a:ext uri="{FF2B5EF4-FFF2-40B4-BE49-F238E27FC236}">
                <a16:creationId xmlns:a16="http://schemas.microsoft.com/office/drawing/2014/main" id="{965F3C05-D8FD-4E00-B9E1-4030DFF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每个人都有不同的住宿底线</a:t>
            </a:r>
          </a:p>
        </p:txBody>
      </p:sp>
      <p:sp>
        <p:nvSpPr>
          <p:cNvPr id="2" name="硬底线限制可选范围，降级顺序决定可以退到哪里">
            <a:extLst xmlns:a="http://schemas.openxmlformats.org/drawingml/2006/main">
              <a:ext uri="{FF2B5EF4-FFF2-40B4-BE49-F238E27FC236}">
                <a16:creationId xmlns:a16="http://schemas.microsoft.com/office/drawing/2014/main" id="{98B2D8AA-9F69-4957-A7C7-273658D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硬底线限制可选范围，降级顺序决定可以退到哪里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D5E37-8140-4438-875B-88901D9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7836178C-6EC0-40D7-9817-6C912DB4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C147BE3F-F754-4D24-BBC2-89C8ED1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D3742-D509-4FAB-A5E4-EBD36837F6BF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714750"/>
                <a:gridCol w="5257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初始期待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事先允许的调整</a:t>
                      </a:r>
                    </a:p>
                  </a:txBody>
                  <a:tcPr marL="152400" marR="152400" marT="142875" marB="133350" anchor="ctr">
                    <a:solidFill>
                      <a:srgbClr val="1528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通勤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步行到目的地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地铁直达且不超时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开业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近年开业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放宽年份，保留其他底线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评分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优先高评分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低分原因可接受才保留</a:t>
                      </a:r>
                    </a:p>
                  </a:txBody>
                  <a:tcPr marL="152400" marR="152400" marT="142875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同一条评论，不同的人会作出不同选择">
            <a:extLst xmlns:a="http://schemas.openxmlformats.org/drawingml/2006/main">
              <a:ext uri="{FF2B5EF4-FFF2-40B4-BE49-F238E27FC236}">
                <a16:creationId xmlns:a16="http://schemas.microsoft.com/office/drawing/2014/main" id="{0AA33F89-4D3F-4469-823B-530F43F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同一条评论，不同的人会作出不同选择</a:t>
            </a:r>
          </a:p>
        </p:txBody>
      </p:sp>
      <p:sp>
        <p:nvSpPr>
          <p:cNvPr id="8" name="早餐单一可以接受。隔音差可以设置为不可妥协。">
            <a:extLst xmlns:a="http://schemas.openxmlformats.org/drawingml/2006/main">
              <a:ext uri="{FF2B5EF4-FFF2-40B4-BE49-F238E27FC236}">
                <a16:creationId xmlns:a16="http://schemas.microsoft.com/office/drawing/2014/main" id="{87D2ECCD-0B83-4AE7-AA70-D8C0E52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窗型与卫生可以是硬底线；评论容忍度由用户明确选择。</a:t>
            </a:r>
          </a:p>
        </p:txBody>
      </p:sp>
    </p:spTree>
    <p:extLst>
      <p:ext uri="{BB962C8B-B14F-4D97-AF65-F5344CB8AC3E}">
        <p14:creationId xmlns:p14="http://schemas.microsoft.com/office/powerpoint/2010/main" val="136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B0A92-C91A-4B3A-A6C2-2D2BF5A0941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72400" y="2895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ADE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01AB1-18A9-4A71-91BB-A2C68C13E5A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62400" y="2895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ADE"/>
            </a:solidFill>
            <a:tailEnd type="triangle" w="sm" len="sm"/>
          </a:ln>
        </p:spPr>
      </p:cxnSp>
      <p:sp>
        <p:nvSpPr>
          <p:cNvPr id="20" name="三平台实际网页操作">
            <a:extLst xmlns:a="http://schemas.openxmlformats.org/drawingml/2006/main">
              <a:ext uri="{FF2B5EF4-FFF2-40B4-BE49-F238E27FC236}">
                <a16:creationId xmlns:a16="http://schemas.microsoft.com/office/drawing/2014/main" id="{0FA3FD0D-F546-4791-83DC-D726ACD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六步流程对应六个独立界面</a:t>
            </a:r>
          </a:p>
        </p:txBody>
      </p:sp>
      <p:sp>
        <p:nvSpPr>
          <p:cNvPr id="2" name="Playwright 打开页面、读取评论，进入结算与">
            <a:extLst xmlns:a="http://schemas.openxmlformats.org/drawingml/2006/main">
              <a:ext uri="{FF2B5EF4-FFF2-40B4-BE49-F238E27FC236}">
                <a16:creationId xmlns:a16="http://schemas.microsoft.com/office/drawing/2014/main" id="{D44FC641-0F94-4278-B75D-BEF9ACA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进度依据授权、网页证据和实际订单，不能靠展示列表冒充完成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5294A-83D1-4157-8D0D-24344B0D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CF218C49-5982-4793-B7E2-3B4952D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5B57534A-EB6F-4A55-985E-60208BA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6" name="平台 A流程节点">
            <a:extLst xmlns:a="http://schemas.openxmlformats.org/drawingml/2006/main">
              <a:ext uri="{FF2B5EF4-FFF2-40B4-BE49-F238E27FC236}">
                <a16:creationId xmlns:a16="http://schemas.microsoft.com/office/drawing/2014/main" id="{6EC75EE5-76A1-4F98-96A6-FD812B4F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平台 A">
            <a:extLst xmlns:a="http://schemas.openxmlformats.org/drawingml/2006/main">
              <a:ext uri="{FF2B5EF4-FFF2-40B4-BE49-F238E27FC236}">
                <a16:creationId xmlns:a16="http://schemas.microsoft.com/office/drawing/2014/main" id="{803BB2D3-D2D8-40B5-AE9A-BE32855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01 行程计划</a:t>
            </a:r>
          </a:p>
        </p:txBody>
      </p:sp>
      <p:sp>
        <p:nvSpPr>
          <p:cNvPr id="8" name="初筛意向酒店">
            <a:extLst xmlns:a="http://schemas.openxmlformats.org/drawingml/2006/main">
              <a:ext uri="{FF2B5EF4-FFF2-40B4-BE49-F238E27FC236}">
                <a16:creationId xmlns:a16="http://schemas.microsoft.com/office/drawing/2014/main" id="{3AE99FFE-6BDC-41EC-A94C-F5D1E7E2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02 取舍与授权</a:t>
            </a:r>
          </a:p>
        </p:txBody>
      </p:sp>
      <p:sp>
        <p:nvSpPr>
          <p:cNvPr id="9" name="平台 B流程节点">
            <a:extLst xmlns:a="http://schemas.openxmlformats.org/drawingml/2006/main">
              <a:ext uri="{FF2B5EF4-FFF2-40B4-BE49-F238E27FC236}">
                <a16:creationId xmlns:a16="http://schemas.microsoft.com/office/drawing/2014/main" id="{3B577C67-72E7-4E49-A9CD-3F34A0B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0" name="平台 B">
            <a:extLst xmlns:a="http://schemas.openxmlformats.org/drawingml/2006/main">
              <a:ext uri="{FF2B5EF4-FFF2-40B4-BE49-F238E27FC236}">
                <a16:creationId xmlns:a16="http://schemas.microsoft.com/office/drawing/2014/main" id="{62263E3C-1781-4311-ABB2-A44F4ED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03 初筛与评论</a:t>
            </a:r>
          </a:p>
        </p:txBody>
      </p:sp>
      <p:sp>
        <p:nvSpPr>
          <p:cNvPr id="11" name="核对同店与竞品">
            <a:extLst xmlns:a="http://schemas.openxmlformats.org/drawingml/2006/main">
              <a:ext uri="{FF2B5EF4-FFF2-40B4-BE49-F238E27FC236}">
                <a16:creationId xmlns:a16="http://schemas.microsoft.com/office/drawing/2014/main" id="{F2874A16-34D1-4EEC-A53B-A30C6AA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04 三平台比价</a:t>
            </a:r>
          </a:p>
        </p:txBody>
      </p:sp>
      <p:sp>
        <p:nvSpPr>
          <p:cNvPr id="12" name="平台 C流程节点">
            <a:extLst xmlns:a="http://schemas.openxmlformats.org/drawingml/2006/main">
              <a:ext uri="{FF2B5EF4-FFF2-40B4-BE49-F238E27FC236}">
                <a16:creationId xmlns:a16="http://schemas.microsoft.com/office/drawing/2014/main" id="{44B68787-189B-424D-BE8D-A0C6079A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0275"/>
            <a:ext cx="3352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3" name="平台 C">
            <a:extLst xmlns:a="http://schemas.openxmlformats.org/drawingml/2006/main">
              <a:ext uri="{FF2B5EF4-FFF2-40B4-BE49-F238E27FC236}">
                <a16:creationId xmlns:a16="http://schemas.microsoft.com/office/drawing/2014/main" id="{CC9620C9-88EA-4F03-9FC0-00387DF3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05 预订或阻断</a:t>
            </a:r>
          </a:p>
        </p:txBody>
      </p:sp>
      <p:sp>
        <p:nvSpPr>
          <p:cNvPr id="14" name="核对价格与条款">
            <a:extLst xmlns:a="http://schemas.openxmlformats.org/drawingml/2006/main">
              <a:ext uri="{FF2B5EF4-FFF2-40B4-BE49-F238E27FC236}">
                <a16:creationId xmlns:a16="http://schemas.microsoft.com/office/drawing/2014/main" id="{8ABB2005-C21E-4AB4-9106-8B197AD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06 订后监控</a:t>
            </a:r>
          </a:p>
        </p:txBody>
      </p:sp>
      <p:sp>
        <p:nvSpPr>
          <p:cNvPr id="17" name="共同目录：20 家测试酒店">
            <a:extLst xmlns:a="http://schemas.openxmlformats.org/drawingml/2006/main">
              <a:ext uri="{FF2B5EF4-FFF2-40B4-BE49-F238E27FC236}">
                <a16:creationId xmlns:a16="http://schemas.microsoft.com/office/drawing/2014/main" id="{89DE0D0D-9162-4F9A-A8B2-A08DA806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三平台网页操作：20 家测试酒店</a:t>
            </a:r>
          </a:p>
        </p:txBody>
      </p:sp>
      <p:sp>
        <p:nvSpPr>
          <p:cNvPr id="18" name="各平台拥有独立报价、评分尺度、库存和取消条款。">
            <a:extLst xmlns:a="http://schemas.openxmlformats.org/drawingml/2006/main">
              <a:ext uri="{FF2B5EF4-FFF2-40B4-BE49-F238E27FC236}">
                <a16:creationId xmlns:a16="http://schemas.microsoft.com/office/drawing/2014/main" id="{5BB37B7E-6176-4A1D-914B-DDBD390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实际打开详情、读取评论、复核报价，再进入结算与订单页。</a:t>
            </a:r>
          </a:p>
        </p:txBody>
      </p:sp>
      <p:sp>
        <p:nvSpPr>
          <p:cNvPr id="19" name="仿真时钟支持暂停、单步和加速。智能体只观察当前页面。">
            <a:extLst xmlns:a="http://schemas.openxmlformats.org/drawingml/2006/main">
              <a:ext uri="{FF2B5EF4-FFF2-40B4-BE49-F238E27FC236}">
                <a16:creationId xmlns:a16="http://schemas.microsoft.com/office/drawing/2014/main" id="{29EC3FDC-FF14-42A3-AFAA-4A31DB4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市场可暂停、单步与加速；智能体只观察当前网页。</a:t>
            </a:r>
          </a:p>
        </p:txBody>
      </p:sp>
    </p:spTree>
    <p:extLst>
      <p:ext uri="{BB962C8B-B14F-4D97-AF65-F5344CB8AC3E}">
        <p14:creationId xmlns:p14="http://schemas.microsoft.com/office/powerpoint/2010/main" val="64778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钱包与授权共同决定能否交易">
            <a:extLst xmlns:a="http://schemas.openxmlformats.org/drawingml/2006/main">
              <a:ext uri="{FF2B5EF4-FFF2-40B4-BE49-F238E27FC236}">
                <a16:creationId xmlns:a16="http://schemas.microsoft.com/office/drawing/2014/main" id="{6C49C1FC-7C80-4165-A97A-2425BC4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钱包与授权共同决定能否交易</a:t>
            </a:r>
          </a:p>
        </p:txBody>
      </p:sp>
      <p:sp>
        <p:nvSpPr>
          <p:cNvPr id="2" name="不可取消房单独授权，免费取消窗口内才允许继续换订">
            <a:extLst xmlns:a="http://schemas.openxmlformats.org/drawingml/2006/main">
              <a:ext uri="{FF2B5EF4-FFF2-40B4-BE49-F238E27FC236}">
                <a16:creationId xmlns:a16="http://schemas.microsoft.com/office/drawing/2014/main" id="{177B5B08-F942-4C2F-AC7C-DA54A91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不可取消房单独授权，免费取消窗口内才允许继续换订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45AE-7635-4220-8EDD-FDFD7DA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BAFF5B4D-CDC1-43BB-AD37-5C19B2F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83EE8FEA-416B-47D5-9B35-259FD0D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6" name="住宿预算">
            <a:extLst xmlns:a="http://schemas.openxmlformats.org/drawingml/2006/main">
              <a:ext uri="{FF2B5EF4-FFF2-40B4-BE49-F238E27FC236}">
                <a16:creationId xmlns:a16="http://schemas.microsoft.com/office/drawing/2014/main" id="{E0A879A7-F776-43F6-B999-A3E36F1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住宿预算</a:t>
            </a:r>
          </a:p>
        </p:txBody>
      </p:sp>
      <p:sp>
        <p:nvSpPr>
          <p:cNvPr id="7" name="含税价格与累计不可退费用">
            <a:extLst xmlns:a="http://schemas.openxmlformats.org/drawingml/2006/main">
              <a:ext uri="{FF2B5EF4-FFF2-40B4-BE49-F238E27FC236}">
                <a16:creationId xmlns:a16="http://schemas.microsoft.com/office/drawing/2014/main" id="{B26871D4-E498-4B85-AB09-B9652C9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含税价格与累计不可退费用</a:t>
            </a:r>
          </a:p>
        </p:txBody>
      </p:sp>
      <p:sp>
        <p:nvSpPr>
          <p:cNvPr id="8" name="可用余额">
            <a:extLst xmlns:a="http://schemas.openxmlformats.org/drawingml/2006/main">
              <a:ext uri="{FF2B5EF4-FFF2-40B4-BE49-F238E27FC236}">
                <a16:creationId xmlns:a16="http://schemas.microsoft.com/office/drawing/2014/main" id="{CD4719B1-486B-47FD-A85D-1BBCD937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可用余额</a:t>
            </a:r>
          </a:p>
        </p:txBody>
      </p:sp>
      <p:sp>
        <p:nvSpPr>
          <p:cNvPr id="9" name="已经到账、可以支付的资金">
            <a:extLst xmlns:a="http://schemas.openxmlformats.org/drawingml/2006/main">
              <a:ext uri="{FF2B5EF4-FFF2-40B4-BE49-F238E27FC236}">
                <a16:creationId xmlns:a16="http://schemas.microsoft.com/office/drawing/2014/main" id="{2BB3D03E-07AE-47ED-BF1C-77A0C65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431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已经到账、可以支付的资金</a:t>
            </a:r>
          </a:p>
        </p:txBody>
      </p:sp>
      <p:sp>
        <p:nvSpPr>
          <p:cNvPr id="10" name="临时占款">
            <a:extLst xmlns:a="http://schemas.openxmlformats.org/drawingml/2006/main">
              <a:ext uri="{FF2B5EF4-FFF2-40B4-BE49-F238E27FC236}">
                <a16:creationId xmlns:a16="http://schemas.microsoft.com/office/drawing/2014/main" id="{E95673B4-23BF-4792-93D2-8B1061E6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临时占款</a:t>
            </a:r>
          </a:p>
        </p:txBody>
      </p:sp>
      <p:sp>
        <p:nvSpPr>
          <p:cNvPr id="11" name="所有尚未实际退款的支出">
            <a:extLst xmlns:a="http://schemas.openxmlformats.org/drawingml/2006/main">
              <a:ext uri="{FF2B5EF4-FFF2-40B4-BE49-F238E27FC236}">
                <a16:creationId xmlns:a16="http://schemas.microsoft.com/office/drawing/2014/main" id="{609DBA8A-F731-4F04-B91D-FA7B7FD3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所有尚未实际退款的支出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F6213-5B60-4344-9719-85C6AA6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13" name="换订顺序：先确认新单，再取消旧单">
            <a:extLst xmlns:a="http://schemas.openxmlformats.org/drawingml/2006/main">
              <a:ext uri="{FF2B5EF4-FFF2-40B4-BE49-F238E27FC236}">
                <a16:creationId xmlns:a16="http://schemas.microsoft.com/office/drawing/2014/main" id="{40372760-5482-4790-8430-8FD9CF1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换订顺序：先确认新单，再取消旧单</a:t>
            </a:r>
          </a:p>
        </p:txBody>
      </p:sp>
      <p:sp>
        <p:nvSpPr>
          <p:cNvPr id="14" name="退款到账前，两笔支出一起占款。退款等待期间暂停继续换">
            <a:extLst xmlns:a="http://schemas.openxmlformats.org/drawingml/2006/main">
              <a:ext uri="{FF2B5EF4-FFF2-40B4-BE49-F238E27FC236}">
                <a16:creationId xmlns:a16="http://schemas.microsoft.com/office/drawing/2014/main" id="{A7CACB9A-7C95-41A3-BB83-99A9E2A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退款到账前，两笔支出一起占款。退款等待期间暂停继续换订。</a:t>
            </a:r>
          </a:p>
        </p:txBody>
      </p:sp>
      <p:sp>
        <p:nvSpPr>
          <p:cNvPr id="15" name="净节省至少 ¥50，且达到旧订单总价的 5%">
            <a:extLst xmlns:a="http://schemas.openxmlformats.org/drawingml/2006/main">
              <a:ext uri="{FF2B5EF4-FFF2-40B4-BE49-F238E27FC236}">
                <a16:creationId xmlns:a16="http://schemas.microsoft.com/office/drawing/2014/main" id="{3D75C82A-6DB1-4702-A74C-3D4E398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净节省至少 ¥50，且达到旧订单总价的 5%</a:t>
            </a:r>
          </a:p>
        </p:txBody>
      </p:sp>
      <p:sp>
        <p:nvSpPr>
          <p:cNvPr id="16" name="新方案的降级档位和个人差评风险均不能变差。">
            <a:extLst xmlns:a="http://schemas.openxmlformats.org/drawingml/2006/main">
              <a:ext uri="{FF2B5EF4-FFF2-40B4-BE49-F238E27FC236}">
                <a16:creationId xmlns:a16="http://schemas.microsoft.com/office/drawing/2014/main" id="{1D75AC7A-4F10-4550-ABE5-FED0CA1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新方案的降级档位和个人差评风险均不能变差。</a:t>
            </a:r>
          </a:p>
        </p:txBody>
      </p:sp>
    </p:spTree>
    <p:extLst>
      <p:ext uri="{BB962C8B-B14F-4D97-AF65-F5344CB8AC3E}">
        <p14:creationId xmlns:p14="http://schemas.microsoft.com/office/powerpoint/2010/main" val="1520612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评论证据支持每一个决定">
            <a:extLst xmlns:a="http://schemas.openxmlformats.org/drawingml/2006/main">
              <a:ext uri="{FF2B5EF4-FFF2-40B4-BE49-F238E27FC236}">
                <a16:creationId xmlns:a16="http://schemas.microsoft.com/office/drawing/2014/main" id="{8D42187B-AA8F-4735-8D42-E1D1D86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评论证据支持每一个决定</a:t>
            </a:r>
          </a:p>
        </p:txBody>
      </p:sp>
      <p:sp>
        <p:nvSpPr>
          <p:cNvPr id="2" name="保留原文、来源日期和已读样本，解释个人取舍">
            <a:extLst xmlns:a="http://schemas.openxmlformats.org/drawingml/2006/main">
              <a:ext uri="{FF2B5EF4-FFF2-40B4-BE49-F238E27FC236}">
                <a16:creationId xmlns:a16="http://schemas.microsoft.com/office/drawing/2014/main" id="{1CBD8DA1-9CBD-4A65-A1DF-7183419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保留原文、来源日期和已读样本，解释个人取舍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D10FE-A88A-4CEB-857B-14BA43B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415C15F3-3049-4EC5-8271-799D734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2EA02184-3B8A-465C-83A8-688F6045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" name="“早餐种类不多，热菜补充较慢。”">
            <a:extLst xmlns:a="http://schemas.openxmlformats.org/drawingml/2006/main">
              <a:ext uri="{FF2B5EF4-FFF2-40B4-BE49-F238E27FC236}">
                <a16:creationId xmlns:a16="http://schemas.microsoft.com/office/drawing/2014/main" id="{A1DCCB20-3CFC-46FD-847B-69A7FEF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“早餐种类不多，热菜补充较慢。”</a:t>
            </a:r>
          </a:p>
        </p:txBody>
      </p:sp>
      <p:sp>
        <p:nvSpPr>
          <p:cNvPr id="7" name="测试评论 · 湖畔时光酒店 · 平台 A · 202">
            <a:extLst xmlns:a="http://schemas.openxmlformats.org/drawingml/2006/main">
              <a:ext uri="{FF2B5EF4-FFF2-40B4-BE49-F238E27FC236}">
                <a16:creationId xmlns:a16="http://schemas.microsoft.com/office/drawing/2014/main" id="{F20B6ED2-9FBD-4809-AA8C-86B9DD16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测试评论 · 湖畔时光酒店 · 平台 A · 2026 年 9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DD47-A0B6-4F8A-8465-6C80BA7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9" name="2 / 8">
            <a:extLst xmlns:a="http://schemas.openxmlformats.org/drawingml/2006/main">
              <a:ext uri="{FF2B5EF4-FFF2-40B4-BE49-F238E27FC236}">
                <a16:creationId xmlns:a16="http://schemas.microsoft.com/office/drawing/2014/main" id="{463458CD-5B9E-4C33-A551-40378C4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743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2 / 8</a:t>
            </a:r>
          </a:p>
        </p:txBody>
      </p:sp>
      <p:sp>
        <p:nvSpPr>
          <p:cNvPr id="10" name="已读评论提到早餐问题">
            <a:extLst xmlns:a="http://schemas.openxmlformats.org/drawingml/2006/main">
              <a:ext uri="{FF2B5EF4-FFF2-40B4-BE49-F238E27FC236}">
                <a16:creationId xmlns:a16="http://schemas.microsoft.com/office/drawing/2014/main" id="{D1D1DFE7-4B99-4C4D-BFFD-B2D7A71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已读评论提到早餐问题</a:t>
            </a:r>
          </a:p>
        </p:txBody>
      </p:sp>
      <p:sp>
        <p:nvSpPr>
          <p:cNvPr id="11" name="个人权重 0">
            <a:extLst xmlns:a="http://schemas.openxmlformats.org/drawingml/2006/main">
              <a:ext uri="{FF2B5EF4-FFF2-40B4-BE49-F238E27FC236}">
                <a16:creationId xmlns:a16="http://schemas.microsoft.com/office/drawing/2014/main" id="{FFD2E082-C551-40EA-9110-2C223C9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638550"/>
            <a:ext cx="3400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个人权重 0</a:t>
            </a:r>
          </a:p>
        </p:txBody>
      </p:sp>
      <p:sp>
        <p:nvSpPr>
          <p:cNvPr id="12" name="用户不在意早餐丰富度，&#10;此问题不增加个人风险。">
            <a:extLst xmlns:a="http://schemas.openxmlformats.org/drawingml/2006/main">
              <a:ext uri="{FF2B5EF4-FFF2-40B4-BE49-F238E27FC236}">
                <a16:creationId xmlns:a16="http://schemas.microsoft.com/office/drawing/2014/main" id="{E6650B02-1519-456A-802F-99CAE7D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38650"/>
            <a:ext cx="3400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用户不在意早餐丰富度，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此问题不增加个人风险。</a:t>
            </a:r>
          </a:p>
        </p:txBody>
      </p:sp>
      <p:sp>
        <p:nvSpPr>
          <p:cNvPr id="13" name="保留候选">
            <a:extLst xmlns:a="http://schemas.openxmlformats.org/drawingml/2006/main">
              <a:ext uri="{FF2B5EF4-FFF2-40B4-BE49-F238E27FC236}">
                <a16:creationId xmlns:a16="http://schemas.microsoft.com/office/drawing/2014/main" id="{98FF2A8E-B67B-4373-897B-999FE58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305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4775B"/>
                </a:solidFill>
                <a:latin typeface="Arial Unicode MS"/>
                <a:ea typeface="Arial Unicode MS"/>
                <a:cs typeface="Arial Unicode MS"/>
              </a:rPr>
              <a:t>保留候选</a:t>
            </a:r>
          </a:p>
        </p:txBody>
      </p:sp>
      <p:sp>
        <p:nvSpPr>
          <p:cNvPr id="14" name="继续核验位置、含税总价&#10;和取消条款。">
            <a:extLst xmlns:a="http://schemas.openxmlformats.org/drawingml/2006/main">
              <a:ext uri="{FF2B5EF4-FFF2-40B4-BE49-F238E27FC236}">
                <a16:creationId xmlns:a16="http://schemas.microsoft.com/office/drawing/2014/main" id="{F9D73799-C2D7-4167-B121-94F32E5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305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继续核验位置、含税总价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和取消条款。</a:t>
            </a:r>
          </a:p>
        </p:txBody>
      </p:sp>
      <p:sp>
        <p:nvSpPr>
          <p:cNvPr id="15" name="决策记录关联依据、报价时间、授权版本与操作截图。">
            <a:extLst xmlns:a="http://schemas.openxmlformats.org/drawingml/2006/main">
              <a:ext uri="{FF2B5EF4-FFF2-40B4-BE49-F238E27FC236}">
                <a16:creationId xmlns:a16="http://schemas.microsoft.com/office/drawing/2014/main" id="{711C5CF7-935D-45C5-9946-C8207A91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决策记录关联依据、报价时间、授权版本与操作截图。</a:t>
            </a:r>
          </a:p>
        </p:txBody>
      </p:sp>
    </p:spTree>
    <p:extLst>
      <p:ext uri="{BB962C8B-B14F-4D97-AF65-F5344CB8AC3E}">
        <p14:creationId xmlns:p14="http://schemas.microsoft.com/office/powerpoint/2010/main" val="149401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可回放的交易与失败场景">
            <a:extLst xmlns:a="http://schemas.openxmlformats.org/drawingml/2006/main">
              <a:ext uri="{FF2B5EF4-FFF2-40B4-BE49-F238E27FC236}">
                <a16:creationId xmlns:a16="http://schemas.microsoft.com/office/drawing/2014/main" id="{071FBB5D-B76D-44A4-BEBD-C06E71A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可回放的交易与失败场景</a:t>
            </a:r>
          </a:p>
        </p:txBody>
      </p:sp>
      <p:sp>
        <p:nvSpPr>
          <p:cNvPr id="2" name="成功路径和阻断结果都进入订单、资金与审计记录">
            <a:extLst xmlns:a="http://schemas.openxmlformats.org/drawingml/2006/main">
              <a:ext uri="{FF2B5EF4-FFF2-40B4-BE49-F238E27FC236}">
                <a16:creationId xmlns:a16="http://schemas.microsoft.com/office/drawing/2014/main" id="{1B8BBC73-E0D5-4769-A1AB-430590D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成功路径和阻断结果都进入订单、资金与审计记录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5B40-7645-41C4-AD77-32C885C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FC7AD258-CF7F-4135-8B60-F5748D67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BEB34ED3-F467-4A8E-9A5B-87983B5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FDD01-CF37-46F1-AB07-A11320B08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15702d4c344a9"/>
          <a:srcRect xmlns:a="http://schemas.openxmlformats.org/drawingml/2006/main" l="9722" t="31800" r="9722" b="55800"/>
          <a:stretch xmlns:a="http://schemas.openxmlformats.org/drawingml/2006/main"/>
        </p:blipFill>
        <p:spPr>
          <a:xfrm xmlns:a="http://schemas.openxmlformats.org/drawingml/2006/main">
            <a:off x="609600" y="2171700"/>
            <a:ext cx="10972800" cy="1181100"/>
          </a:xfrm>
          <a:prstGeom xmlns:a="http://schemas.openxmlformats.org/drawingml/2006/main" prst="rect">
            <a:avLst/>
          </a:prstGeom>
        </p:spPr>
      </p:pic>
      <p:sp>
        <p:nvSpPr>
          <p:cNvPr id="7" name="本地实际换订">
            <a:extLst xmlns:a="http://schemas.openxmlformats.org/drawingml/2006/main">
              <a:ext uri="{FF2B5EF4-FFF2-40B4-BE49-F238E27FC236}">
                <a16:creationId xmlns:a16="http://schemas.microsoft.com/office/drawing/2014/main" id="{084526F6-2234-4D20-8283-DA3BF14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本地实际换订</a:t>
            </a:r>
          </a:p>
        </p:txBody>
      </p:sp>
      <p:sp>
        <p:nvSpPr>
          <p:cNvPr id="8" name="¥455 换为 ¥315">
            <a:extLst xmlns:a="http://schemas.openxmlformats.org/drawingml/2006/main">
              <a:ext uri="{FF2B5EF4-FFF2-40B4-BE49-F238E27FC236}">
                <a16:creationId xmlns:a16="http://schemas.microsoft.com/office/drawing/2014/main" id="{7D69692E-4998-46B0-87D0-1E1B8F6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¥455 换为 ¥315</a:t>
            </a:r>
          </a:p>
        </p:txBody>
      </p:sp>
      <p:sp>
        <p:nvSpPr>
          <p:cNvPr id="9" name="旧单退款已到账">
            <a:extLst xmlns:a="http://schemas.openxmlformats.org/drawingml/2006/main">
              <a:ext uri="{FF2B5EF4-FFF2-40B4-BE49-F238E27FC236}">
                <a16:creationId xmlns:a16="http://schemas.microsoft.com/office/drawing/2014/main" id="{FF1F947C-1422-4D07-A4B3-88CBD4C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旧单退款已到账</a:t>
            </a:r>
          </a:p>
        </p:txBody>
      </p:sp>
      <p:sp>
        <p:nvSpPr>
          <p:cNvPr id="10" name="服务端实际阻断">
            <a:extLst xmlns:a="http://schemas.openxmlformats.org/drawingml/2006/main">
              <a:ext uri="{FF2B5EF4-FFF2-40B4-BE49-F238E27FC236}">
                <a16:creationId xmlns:a16="http://schemas.microsoft.com/office/drawing/2014/main" id="{38C45EC2-EF4F-4BDE-A273-28DBB24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64B43"/>
                </a:solidFill>
                <a:latin typeface="Arial Unicode MS"/>
                <a:ea typeface="Arial Unicode MS"/>
                <a:cs typeface="Arial Unicode MS"/>
              </a:rPr>
              <a:t>服务端实际阻断</a:t>
            </a:r>
          </a:p>
        </p:txBody>
      </p:sp>
      <p:sp>
        <p:nvSpPr>
          <p:cNvPr id="11" name="含税总价升到 ¥1,555&#10;超过 ¥1,000 预算">
            <a:extLst xmlns:a="http://schemas.openxmlformats.org/drawingml/2006/main">
              <a:ext uri="{FF2B5EF4-FFF2-40B4-BE49-F238E27FC236}">
                <a16:creationId xmlns:a16="http://schemas.microsoft.com/office/drawing/2014/main" id="{DAC0C726-26AB-4E88-B728-B1F116D2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含税总价升到 ¥1,555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超过 ¥1,000 预算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钱包没有扣款</a:t>
            </a:r>
          </a:p>
        </p:txBody>
      </p:sp>
    </p:spTree>
    <p:extLst>
      <p:ext uri="{BB962C8B-B14F-4D97-AF65-F5344CB8AC3E}">
        <p14:creationId xmlns:p14="http://schemas.microsoft.com/office/powerpoint/2010/main" val="2096194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首版边界与真实平台接入">
            <a:extLst xmlns:a="http://schemas.openxmlformats.org/drawingml/2006/main">
              <a:ext uri="{FF2B5EF4-FFF2-40B4-BE49-F238E27FC236}">
                <a16:creationId xmlns:a16="http://schemas.microsoft.com/office/drawing/2014/main" id="{9E84BCCA-7ECC-4D87-8873-5A6AE45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竞争位置与真实接入</a:t>
            </a:r>
          </a:p>
        </p:txBody>
      </p:sp>
      <p:sp>
        <p:nvSpPr>
          <p:cNvPr id="2" name="可运行的仿真闭环，为真实商户适配提供接口">
            <a:extLst xmlns:a="http://schemas.openxmlformats.org/drawingml/2006/main">
              <a:ext uri="{FF2B5EF4-FFF2-40B4-BE49-F238E27FC236}">
                <a16:creationId xmlns:a16="http://schemas.microsoft.com/office/drawing/2014/main" id="{0961E038-7F0F-4B9F-B1B1-22510E7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1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把个人取舍推进到授权内交易，并核对失败与退款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B5D5-65AA-49F4-8929-AD09CFDD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4" name="StayPilot · 仿真市场与测试资金">
            <a:extLst xmlns:a="http://schemas.openxmlformats.org/drawingml/2006/main">
              <a:ext uri="{FF2B5EF4-FFF2-40B4-BE49-F238E27FC236}">
                <a16:creationId xmlns:a16="http://schemas.microsoft.com/office/drawing/2014/main" id="{90FA5A24-108B-4291-85DC-F05A2F4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· 测试交易 / 独立真实只读验证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1947505C-2240-4A4E-B457-3783298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24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" name="当前首版">
            <a:extLst xmlns:a="http://schemas.openxmlformats.org/drawingml/2006/main">
              <a:ext uri="{FF2B5EF4-FFF2-40B4-BE49-F238E27FC236}">
                <a16:creationId xmlns:a16="http://schemas.microsoft.com/office/drawing/2014/main" id="{7D06A85F-F19D-4A73-9972-05B2D19B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从筛选与提醒，走向持续执行</a:t>
            </a:r>
          </a:p>
        </p:txBody>
      </p:sp>
      <p:sp>
        <p:nvSpPr>
          <p:cNvPr id="7" name="单目的地、固定日期、人民币。三平台与 20 家测试酒">
            <a:extLst xmlns:a="http://schemas.openxmlformats.org/drawingml/2006/main">
              <a:ext uri="{FF2B5EF4-FFF2-40B4-BE49-F238E27FC236}">
                <a16:creationId xmlns:a16="http://schemas.microsoft.com/office/drawing/2014/main" id="{0C5668FB-8709-4A3D-8D3F-B8C3410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OTA 帮助筛选，比价与监控工具帮助观察价格。</a:t>
            </a:r>
          </a:p>
        </p:txBody>
      </p:sp>
      <p:sp>
        <p:nvSpPr>
          <p:cNvPr id="8" name="后端规则检查预算与权限。模型辅助偏好提取为可选能力。">
            <a:extLst xmlns:a="http://schemas.openxmlformats.org/drawingml/2006/main">
              <a:ext uri="{FF2B5EF4-FFF2-40B4-BE49-F238E27FC236}">
                <a16:creationId xmlns:a16="http://schemas.microsoft.com/office/drawing/2014/main" id="{8DBD2617-7CA7-40DC-83AF-2931FADE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StayPilot 在测试市场执行个人降级、换订、补偿与越界阻断。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4D4C2-E964-45D6-95C1-8844A548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EF"/>
            </a:solidFill>
            <a:prstDash val="solid"/>
          </a:ln>
        </p:spPr>
      </p:sp>
      <p:sp>
        <p:nvSpPr>
          <p:cNvPr id="10" name="下一步">
            <a:extLst xmlns:a="http://schemas.openxmlformats.org/drawingml/2006/main">
              <a:ext uri="{FF2B5EF4-FFF2-40B4-BE49-F238E27FC236}">
                <a16:creationId xmlns:a16="http://schemas.microsoft.com/office/drawing/2014/main" id="{F1D61FA1-AB9A-401D-B6F6-698CF6F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85ADE"/>
                </a:solidFill>
                <a:latin typeface="Arial Unicode MS"/>
                <a:ea typeface="Arial Unicode MS"/>
                <a:cs typeface="Arial Unicode MS"/>
              </a:rPr>
              <a:t>真实验证：飞猪已返回 8 家酒店</a:t>
            </a:r>
          </a:p>
        </p:txBody>
      </p:sp>
      <p:sp>
        <p:nvSpPr>
          <p:cNvPr id="11" name="在商户授权接口上接入真实报价与库存，再接支付及退款。">
            <a:extLst xmlns:a="http://schemas.openxmlformats.org/drawingml/2006/main">
              <a:ext uri="{FF2B5EF4-FFF2-40B4-BE49-F238E27FC236}">
                <a16:creationId xmlns:a16="http://schemas.microsoft.com/office/drawing/2014/main" id="{65A575B9-6FD4-4BF1-AC7C-094932A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52849"/>
                </a:solidFill>
                <a:latin typeface="Arial Unicode MS"/>
                <a:ea typeface="Arial Unicode MS"/>
                <a:cs typeface="Arial Unicode MS"/>
              </a:rPr>
              <a:t>搜索价与成交价分开。下一步申请含税报价、沙箱订单与退款权限。</a:t>
            </a:r>
          </a:p>
        </p:txBody>
      </p:sp>
      <p:sp>
        <p:nvSpPr>
          <p:cNvPr id="12" name="真实运营表现需要接入后测量。">
            <a:extLst xmlns:a="http://schemas.openxmlformats.org/drawingml/2006/main">
              <a:ext uri="{FF2B5EF4-FFF2-40B4-BE49-F238E27FC236}">
                <a16:creationId xmlns:a16="http://schemas.microsoft.com/office/drawing/2014/main" id="{4890045B-667F-4D6F-96F1-E64BC7B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4738D"/>
                </a:solidFill>
                <a:latin typeface="Arial Unicode MS"/>
                <a:ea typeface="Arial Unicode MS"/>
                <a:cs typeface="Arial Unicode MS"/>
              </a:rPr>
              <a:t>真实订单与支付尚未启用；真人省时效果仍待测量。</a:t>
            </a:r>
          </a:p>
        </p:txBody>
      </p:sp>
    </p:spTree>
    <p:extLst>
      <p:ext uri="{BB962C8B-B14F-4D97-AF65-F5344CB8AC3E}">
        <p14:creationId xmlns:p14="http://schemas.microsoft.com/office/powerpoint/2010/main" val="130730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2026-10-03T20:14:23.1260000Z</dcterms:created>
  <dcterms:modified xsi:type="dcterms:W3CDTF">2026-10-03T20:14:23.1260000Z</dcterms:modified>
</coreProperties>
</file>